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6405"/>
  </p:normalViewPr>
  <p:slideViewPr>
    <p:cSldViewPr snapToGrid="0" snapToObjects="1">
      <p:cViewPr>
        <p:scale>
          <a:sx n="110" d="100"/>
          <a:sy n="110" d="100"/>
        </p:scale>
        <p:origin x="53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C1F5A-B38D-814C-A796-6E2C0A7FF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5562"/>
            <a:ext cx="8991600" cy="2767102"/>
          </a:xfrm>
        </p:spPr>
        <p:txBody>
          <a:bodyPr>
            <a:normAutofit fontScale="90000"/>
          </a:bodyPr>
          <a:lstStyle/>
          <a:p>
            <a:r>
              <a:rPr lang="en-US" dirty="0"/>
              <a:t>DNA Binding by </a:t>
            </a:r>
            <a:r>
              <a:rPr lang="en-US" dirty="0" err="1"/>
              <a:t>BosR</a:t>
            </a:r>
            <a:r>
              <a:rPr lang="en-US" dirty="0"/>
              <a:t> Controls </a:t>
            </a:r>
            <a:r>
              <a:rPr lang="en-US" dirty="0" err="1"/>
              <a:t>RpoS</a:t>
            </a:r>
            <a:r>
              <a:rPr lang="en-US" dirty="0"/>
              <a:t>-­ Dependent</a:t>
            </a:r>
            <a:br>
              <a:rPr lang="en-US" dirty="0"/>
            </a:br>
            <a:r>
              <a:rPr lang="en-US" dirty="0"/>
              <a:t>and -­ Independent Gene Expression in Borrelia burgdorferi</a:t>
            </a:r>
            <a:endParaRPr lang="en-E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5CA36-8E66-8044-B44F-8402BA1F3C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</a:t>
            </a:r>
            <a:r>
              <a:rPr lang="en-US" dirty="0" err="1"/>
              <a:t>Grassmann</a:t>
            </a:r>
            <a:r>
              <a:rPr lang="en-US" dirty="0"/>
              <a:t> et al., Molecular Microbiology, 2025)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97840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132E-A21F-7143-9E08-5B8178B09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02198"/>
            <a:ext cx="7729728" cy="1188720"/>
          </a:xfrm>
        </p:spPr>
        <p:txBody>
          <a:bodyPr/>
          <a:lstStyle/>
          <a:p>
            <a:r>
              <a:rPr lang="en-E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510C6-4CF7-0B45-AE7A-C4386DFA4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5" y="1484555"/>
            <a:ext cx="10968497" cy="5271247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Borrelia burgdorferi, the etiologic agent of Lyme disease, cycles between Ixodes ticks and mammalian hosts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Successful host adaptation requires large scale transcriptional reprogramming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genome encodes very few transcriptional regulators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BosR</a:t>
            </a:r>
            <a:r>
              <a:rPr lang="en-US" sz="2000" dirty="0"/>
              <a:t> is the sole FUR-family regulator in B. burgdorferi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BosR</a:t>
            </a:r>
            <a:r>
              <a:rPr lang="en-US" sz="2000" dirty="0"/>
              <a:t> is known to activate </a:t>
            </a:r>
            <a:r>
              <a:rPr lang="en-US" sz="2000" dirty="0" err="1"/>
              <a:t>rpoS</a:t>
            </a:r>
            <a:r>
              <a:rPr lang="en-US" sz="2000" dirty="0"/>
              <a:t>, the sigma factor governing the mammalian phase regulon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Most prior studies focused on </a:t>
            </a:r>
            <a:r>
              <a:rPr lang="en-US" sz="2000" dirty="0" err="1"/>
              <a:t>BosR’s</a:t>
            </a:r>
            <a:r>
              <a:rPr lang="en-US" sz="2000" dirty="0"/>
              <a:t> role within the </a:t>
            </a:r>
            <a:r>
              <a:rPr lang="en-US" sz="2000" dirty="0" err="1"/>
              <a:t>RpoN</a:t>
            </a:r>
            <a:r>
              <a:rPr lang="en-US" sz="2000" dirty="0"/>
              <a:t>/</a:t>
            </a:r>
            <a:r>
              <a:rPr lang="en-US" sz="2000" dirty="0" err="1"/>
              <a:t>RpoS</a:t>
            </a:r>
            <a:r>
              <a:rPr lang="en-US" sz="2000" dirty="0"/>
              <a:t> pathway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Research Question: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Does </a:t>
            </a:r>
            <a:r>
              <a:rPr lang="en-US" sz="2000" dirty="0" err="1"/>
              <a:t>BosR</a:t>
            </a:r>
            <a:r>
              <a:rPr lang="en-US" sz="2000" dirty="0"/>
              <a:t> control gene expression through both </a:t>
            </a:r>
            <a:r>
              <a:rPr lang="en-US" sz="2000" dirty="0" err="1"/>
              <a:t>RpoS</a:t>
            </a:r>
            <a:r>
              <a:rPr lang="en-US" sz="2000" dirty="0"/>
              <a:t>-dependent and </a:t>
            </a:r>
            <a:r>
              <a:rPr lang="en-US" sz="2000" dirty="0" err="1"/>
              <a:t>RpoS</a:t>
            </a:r>
            <a:r>
              <a:rPr lang="en-US" sz="2000" dirty="0"/>
              <a:t>-independent mechanisms?</a:t>
            </a:r>
          </a:p>
        </p:txBody>
      </p:sp>
    </p:spTree>
    <p:extLst>
      <p:ext uri="{BB962C8B-B14F-4D97-AF65-F5344CB8AC3E}">
        <p14:creationId xmlns:p14="http://schemas.microsoft.com/office/powerpoint/2010/main" val="1281091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3028E-4B93-B944-B6BE-B319D510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14838"/>
            <a:ext cx="7729728" cy="1188720"/>
          </a:xfrm>
        </p:spPr>
        <p:txBody>
          <a:bodyPr/>
          <a:lstStyle/>
          <a:p>
            <a:r>
              <a:rPr lang="en-US" dirty="0"/>
              <a:t>Conceptual Model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3720D-D12C-DE47-9509-59243A362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979" y="1775014"/>
            <a:ext cx="10962042" cy="41847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/>
              <a:t>BosR</a:t>
            </a:r>
            <a:r>
              <a:rPr lang="en-US" sz="2000" dirty="0"/>
              <a:t> functions as a global transcriptional regulator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It exerts control through two distinct mechanisms: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RpoS</a:t>
            </a:r>
            <a:r>
              <a:rPr lang="en-US" sz="2000" dirty="0"/>
              <a:t>-dependent regulation via activation of </a:t>
            </a:r>
            <a:r>
              <a:rPr lang="en-US" sz="2000" dirty="0" err="1"/>
              <a:t>rpoS</a:t>
            </a:r>
            <a:r>
              <a:rPr lang="en-US" sz="2000" dirty="0"/>
              <a:t> and cooperation with RNAP-</a:t>
            </a:r>
            <a:r>
              <a:rPr lang="en-US" sz="2000" dirty="0" err="1"/>
              <a:t>RpoS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/>
              <a:t>RpoS</a:t>
            </a:r>
            <a:r>
              <a:rPr lang="en-US" sz="2000" dirty="0"/>
              <a:t>-independent regulation via direct DNA binding (FUR-like activity)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DNA-binding activity of </a:t>
            </a:r>
            <a:r>
              <a:rPr lang="en-US" sz="2000" dirty="0" err="1"/>
              <a:t>BosR</a:t>
            </a:r>
            <a:r>
              <a:rPr lang="en-US" sz="2000" dirty="0"/>
              <a:t> is essential for both regulatory roles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Mutation of the conserved DNA-contact residue R39 will stop </a:t>
            </a:r>
            <a:r>
              <a:rPr lang="en-US" sz="2000" dirty="0" err="1"/>
              <a:t>BosR’s</a:t>
            </a:r>
            <a:r>
              <a:rPr lang="en-US" sz="2000" dirty="0"/>
              <a:t> regulatory capacity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So loss of </a:t>
            </a:r>
            <a:r>
              <a:rPr lang="en-US" sz="2000" dirty="0" err="1"/>
              <a:t>BosR</a:t>
            </a:r>
            <a:r>
              <a:rPr lang="en-US" sz="2000" dirty="0"/>
              <a:t> DNA binding will disrupt both </a:t>
            </a:r>
            <a:r>
              <a:rPr lang="en-US" sz="2000" dirty="0" err="1"/>
              <a:t>RpoS</a:t>
            </a:r>
            <a:r>
              <a:rPr lang="en-US" sz="2000" dirty="0"/>
              <a:t>-dependent and independent gene expression.</a:t>
            </a:r>
            <a:endParaRPr lang="en-EG" sz="2000" dirty="0"/>
          </a:p>
        </p:txBody>
      </p:sp>
    </p:spTree>
    <p:extLst>
      <p:ext uri="{BB962C8B-B14F-4D97-AF65-F5344CB8AC3E}">
        <p14:creationId xmlns:p14="http://schemas.microsoft.com/office/powerpoint/2010/main" val="482463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4DE8D-4177-114A-94C8-0C10B0606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07577"/>
            <a:ext cx="7729728" cy="1188720"/>
          </a:xfrm>
        </p:spPr>
        <p:txBody>
          <a:bodyPr/>
          <a:lstStyle/>
          <a:p>
            <a:r>
              <a:rPr lang="en-EG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5B701-E8F2-7447-BA20-5B86C3076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518" y="1479175"/>
            <a:ext cx="5852160" cy="528200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Strains analyzed: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Wild type (WT)</a:t>
            </a:r>
          </a:p>
          <a:p>
            <a:pPr>
              <a:lnSpc>
                <a:spcPct val="150000"/>
              </a:lnSpc>
            </a:pPr>
            <a:r>
              <a:rPr lang="el-GR" sz="2000" dirty="0"/>
              <a:t>Δ</a:t>
            </a:r>
            <a:r>
              <a:rPr lang="en-US" sz="2000" dirty="0" err="1"/>
              <a:t>bosR</a:t>
            </a:r>
            <a:r>
              <a:rPr lang="en-US" sz="2000" dirty="0"/>
              <a:t> (</a:t>
            </a:r>
            <a:r>
              <a:rPr lang="en-US" sz="2000" dirty="0" err="1"/>
              <a:t>bosR</a:t>
            </a:r>
            <a:r>
              <a:rPr lang="en-US" sz="2000" dirty="0"/>
              <a:t> deletion mutant)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BosR-R39A (DNA-binding-defective mutant)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Growth conditions: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In vitro temperature shifted cultures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Mammalian host adapted spirochetes grown in Dialysis Membrane Chambers (DMCs in rats)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3DDF32-A751-8E44-AAC6-F85074A38877}"/>
              </a:ext>
            </a:extLst>
          </p:cNvPr>
          <p:cNvSpPr txBox="1">
            <a:spLocks/>
          </p:cNvSpPr>
          <p:nvPr/>
        </p:nvSpPr>
        <p:spPr>
          <a:xfrm>
            <a:off x="6228678" y="1296297"/>
            <a:ext cx="5852160" cy="52820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/>
              <a:t>Techniques: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RNA-seq for global transcriptome profiling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PCA and differential expression analysis to define </a:t>
            </a:r>
            <a:r>
              <a:rPr lang="en-US" sz="2000" dirty="0" err="1"/>
              <a:t>BosR</a:t>
            </a:r>
            <a:r>
              <a:rPr lang="en-US" sz="2000" dirty="0"/>
              <a:t> regulons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Electrophoretic Mobility Shift Assays (EMSAs) to assess DNA binding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/>
              <a:t>Comparative analyses: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WT vs </a:t>
            </a:r>
            <a:r>
              <a:rPr lang="el-GR" sz="2000" dirty="0"/>
              <a:t>Δ</a:t>
            </a:r>
            <a:r>
              <a:rPr lang="en-US" sz="2000" dirty="0" err="1"/>
              <a:t>bosR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WT vs BosR-R39A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Integration with existing </a:t>
            </a:r>
            <a:r>
              <a:rPr lang="el-GR" sz="2000" dirty="0"/>
              <a:t>Δ</a:t>
            </a:r>
            <a:r>
              <a:rPr lang="en-US" sz="2000" dirty="0" err="1"/>
              <a:t>rpoS</a:t>
            </a:r>
            <a:r>
              <a:rPr lang="en-US" sz="2000" dirty="0"/>
              <a:t> datasets</a:t>
            </a:r>
            <a:endParaRPr lang="en-EG" sz="2000" dirty="0"/>
          </a:p>
        </p:txBody>
      </p:sp>
    </p:spTree>
    <p:extLst>
      <p:ext uri="{BB962C8B-B14F-4D97-AF65-F5344CB8AC3E}">
        <p14:creationId xmlns:p14="http://schemas.microsoft.com/office/powerpoint/2010/main" val="3895216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5711-5A72-8B40-AD0F-7A4C0C2FB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82565"/>
            <a:ext cx="7729728" cy="1188720"/>
          </a:xfrm>
        </p:spPr>
        <p:txBody>
          <a:bodyPr/>
          <a:lstStyle/>
          <a:p>
            <a:r>
              <a:rPr lang="en-EG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8BACA-8C48-4D46-8909-169243034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79" y="1376979"/>
            <a:ext cx="11661289" cy="5249731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 err="1"/>
              <a:t>BosR</a:t>
            </a:r>
            <a:r>
              <a:rPr lang="en-US" sz="2400" dirty="0"/>
              <a:t> regulates hundreds of genes in both environments:</a:t>
            </a:r>
          </a:p>
          <a:p>
            <a:pPr lvl="1"/>
            <a:r>
              <a:rPr lang="en-US" sz="2200" b="1" dirty="0" err="1"/>
              <a:t>RpoS</a:t>
            </a:r>
            <a:r>
              <a:rPr lang="en-US" sz="2200" b="1" dirty="0"/>
              <a:t>-dependent genes </a:t>
            </a:r>
            <a:r>
              <a:rPr lang="en-US" sz="2200" dirty="0"/>
              <a:t>(ex: </a:t>
            </a:r>
            <a:r>
              <a:rPr lang="en-US" sz="2200" dirty="0" err="1"/>
              <a:t>ospC</a:t>
            </a:r>
            <a:r>
              <a:rPr lang="en-US" sz="2200" dirty="0"/>
              <a:t>, </a:t>
            </a:r>
            <a:r>
              <a:rPr lang="en-US" sz="2200" dirty="0" err="1"/>
              <a:t>dbpA</a:t>
            </a:r>
            <a:r>
              <a:rPr lang="en-US" sz="2200" dirty="0"/>
              <a:t>, bbk32, mcp4/5)</a:t>
            </a:r>
          </a:p>
          <a:p>
            <a:pPr lvl="2"/>
            <a:r>
              <a:rPr lang="en-US" sz="2000" dirty="0"/>
              <a:t>Encode surface proteins, chemotaxis factors, and virulence determinants</a:t>
            </a:r>
          </a:p>
          <a:p>
            <a:pPr lvl="1"/>
            <a:r>
              <a:rPr lang="en-US" sz="2200" b="1" dirty="0" err="1"/>
              <a:t>RpoS</a:t>
            </a:r>
            <a:r>
              <a:rPr lang="en-US" sz="2200" b="1" dirty="0"/>
              <a:t>-independent genes</a:t>
            </a:r>
            <a:endParaRPr lang="en-US" sz="2200" dirty="0"/>
          </a:p>
          <a:p>
            <a:pPr lvl="2"/>
            <a:r>
              <a:rPr lang="en-US" sz="2000" dirty="0"/>
              <a:t>Involved in DNA repair (</a:t>
            </a:r>
            <a:r>
              <a:rPr lang="en-US" sz="2000" i="1" dirty="0" err="1"/>
              <a:t>mutS</a:t>
            </a:r>
            <a:r>
              <a:rPr lang="en-US" sz="2000" i="1" dirty="0"/>
              <a:t>, </a:t>
            </a:r>
            <a:r>
              <a:rPr lang="en-US" sz="2000" i="1" dirty="0" err="1"/>
              <a:t>uvrD</a:t>
            </a:r>
            <a:r>
              <a:rPr lang="en-US" sz="2000" dirty="0"/>
              <a:t>), chemotaxis (</a:t>
            </a:r>
            <a:r>
              <a:rPr lang="en-US" sz="2000" i="1" dirty="0" err="1"/>
              <a:t>cheB</a:t>
            </a:r>
            <a:r>
              <a:rPr lang="en-US" sz="2000" i="1" dirty="0"/>
              <a:t>, </a:t>
            </a:r>
            <a:r>
              <a:rPr lang="en-US" sz="2000" i="1" dirty="0" err="1"/>
              <a:t>cheR</a:t>
            </a:r>
            <a:r>
              <a:rPr lang="en-US" sz="2000" i="1" dirty="0"/>
              <a:t>, </a:t>
            </a:r>
            <a:r>
              <a:rPr lang="en-US" sz="2000" i="1" dirty="0" err="1"/>
              <a:t>cheW</a:t>
            </a:r>
            <a:r>
              <a:rPr lang="en-US" sz="2000" dirty="0"/>
              <a:t>), transport, and metabolism</a:t>
            </a:r>
          </a:p>
          <a:p>
            <a:pPr marL="0" indent="0">
              <a:buNone/>
            </a:pPr>
            <a:r>
              <a:rPr lang="en-US" sz="2400" dirty="0"/>
              <a:t>DNA binding is essential:</a:t>
            </a:r>
          </a:p>
          <a:p>
            <a:r>
              <a:rPr lang="en-US" sz="2400" dirty="0"/>
              <a:t>BosR-R39A cannot bind DNA</a:t>
            </a:r>
          </a:p>
          <a:p>
            <a:r>
              <a:rPr lang="en-US" sz="2400" dirty="0" err="1"/>
              <a:t>rpoS</a:t>
            </a:r>
            <a:r>
              <a:rPr lang="en-US" sz="2400" dirty="0"/>
              <a:t> transcription is severely reduced</a:t>
            </a:r>
          </a:p>
          <a:p>
            <a:r>
              <a:rPr lang="en-US" sz="2400" dirty="0"/>
              <a:t>Both </a:t>
            </a:r>
            <a:r>
              <a:rPr lang="en-US" sz="2400" dirty="0" err="1"/>
              <a:t>RpoS</a:t>
            </a:r>
            <a:r>
              <a:rPr lang="en-US" sz="2400" dirty="0"/>
              <a:t>-dependent and independent regulons collapse</a:t>
            </a:r>
          </a:p>
          <a:p>
            <a:pPr marL="0" indent="0">
              <a:buNone/>
            </a:pPr>
            <a:r>
              <a:rPr lang="en-US" sz="2400" dirty="0"/>
              <a:t>Contrary to earlier models:</a:t>
            </a:r>
          </a:p>
          <a:p>
            <a:r>
              <a:rPr lang="en-US" sz="2400" dirty="0"/>
              <a:t>Classical oxidative stress genes (</a:t>
            </a:r>
            <a:r>
              <a:rPr lang="en-US" sz="2400" dirty="0" err="1"/>
              <a:t>napA</a:t>
            </a:r>
            <a:r>
              <a:rPr lang="en-US" sz="2400" dirty="0"/>
              <a:t>, </a:t>
            </a:r>
            <a:r>
              <a:rPr lang="en-US" sz="2400" dirty="0" err="1"/>
              <a:t>sodA</a:t>
            </a:r>
            <a:r>
              <a:rPr lang="en-US" sz="2400" dirty="0"/>
              <a:t>, </a:t>
            </a:r>
            <a:r>
              <a:rPr lang="en-US" sz="2400" dirty="0" err="1"/>
              <a:t>cdr</a:t>
            </a:r>
            <a:r>
              <a:rPr lang="en-US" sz="2400" dirty="0"/>
              <a:t>) are not regulated by </a:t>
            </a:r>
            <a:r>
              <a:rPr lang="en-US" sz="2400" dirty="0" err="1"/>
              <a:t>BosR</a:t>
            </a:r>
            <a:r>
              <a:rPr lang="en-US" sz="2400" dirty="0"/>
              <a:t> under these conditions</a:t>
            </a:r>
          </a:p>
          <a:p>
            <a:r>
              <a:rPr lang="en-US" sz="2400" dirty="0"/>
              <a:t>No single conserved </a:t>
            </a:r>
            <a:r>
              <a:rPr lang="en-US" sz="2400" dirty="0" err="1"/>
              <a:t>BosR</a:t>
            </a:r>
            <a:r>
              <a:rPr lang="en-US" sz="2400" dirty="0"/>
              <a:t> DNA-binding motif identified</a:t>
            </a:r>
            <a:br>
              <a:rPr lang="en-US" sz="2400" dirty="0"/>
            </a:br>
            <a:r>
              <a:rPr lang="en-US" sz="2400" dirty="0"/>
              <a:t>→ Suggests regulation depends on local DNA context or topology</a:t>
            </a:r>
          </a:p>
          <a:p>
            <a:endParaRPr lang="en-EG" sz="2400" dirty="0"/>
          </a:p>
        </p:txBody>
      </p:sp>
    </p:spTree>
    <p:extLst>
      <p:ext uri="{BB962C8B-B14F-4D97-AF65-F5344CB8AC3E}">
        <p14:creationId xmlns:p14="http://schemas.microsoft.com/office/powerpoint/2010/main" val="1611113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71AA70-8D8C-7344-9281-BDC5B5F48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780" y="817170"/>
            <a:ext cx="4578691" cy="522366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Each dot represents a single gene.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Right = genes activated by </a:t>
            </a:r>
            <a:r>
              <a:rPr lang="en-US" sz="2400" dirty="0" err="1"/>
              <a:t>BosR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/>
              <a:t>Left = genes repressed by </a:t>
            </a:r>
            <a:r>
              <a:rPr lang="en-US" sz="2400" dirty="0" err="1"/>
              <a:t>BosR</a:t>
            </a:r>
            <a:r>
              <a:rPr lang="en-US" sz="2400" dirty="0"/>
              <a:t> 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Higher = more statistically significant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Genes at the top are the most confidently regulated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Figure 2B demonstrates that </a:t>
            </a:r>
            <a:r>
              <a:rPr lang="en-US" sz="2400" dirty="0" err="1"/>
              <a:t>BosR</a:t>
            </a:r>
            <a:r>
              <a:rPr lang="en-US" sz="2400" dirty="0"/>
              <a:t> globally regulates gene expression in host-adapted Borrelia burgdorferi through both </a:t>
            </a:r>
            <a:r>
              <a:rPr lang="en-US" sz="2400" dirty="0" err="1"/>
              <a:t>RpoS</a:t>
            </a:r>
            <a:r>
              <a:rPr lang="en-US" sz="2400" dirty="0"/>
              <a:t>-dependent and </a:t>
            </a:r>
            <a:r>
              <a:rPr lang="en-US" sz="2400" dirty="0" err="1"/>
              <a:t>RpoS</a:t>
            </a:r>
            <a:r>
              <a:rPr lang="en-US" sz="2400" dirty="0"/>
              <a:t>-independent pathways.</a:t>
            </a:r>
            <a:endParaRPr lang="en-EG" sz="2400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B0D365F1-BAB9-3748-A69F-06169D3CD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536" y="60644"/>
            <a:ext cx="7483684" cy="632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772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5F8D0-F937-2049-8FD6-1A8BC7717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07442"/>
            <a:ext cx="7729728" cy="1188720"/>
          </a:xfrm>
        </p:spPr>
        <p:txBody>
          <a:bodyPr/>
          <a:lstStyle/>
          <a:p>
            <a:r>
              <a:rPr lang="en-E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C1927-2E10-304C-B61C-B682D4DEE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41" y="1441525"/>
            <a:ext cx="11963400" cy="499440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 err="1"/>
              <a:t>BosR</a:t>
            </a:r>
            <a:r>
              <a:rPr lang="en-US" sz="2000" dirty="0"/>
              <a:t> is a bifunctional global regulator in Borrelia burgdorferi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It controls gene expression through: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Cooperation with RNAP–</a:t>
            </a:r>
            <a:r>
              <a:rPr lang="en-US" sz="1800" dirty="0" err="1"/>
              <a:t>RpoS</a:t>
            </a:r>
            <a:r>
              <a:rPr lang="en-US" sz="1800" dirty="0"/>
              <a:t> to establish the mammalian-phase transcriptome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Direct, FUR-like DNA binding to regulate </a:t>
            </a:r>
            <a:r>
              <a:rPr lang="en-US" sz="1800" dirty="0" err="1"/>
              <a:t>RpoS</a:t>
            </a:r>
            <a:r>
              <a:rPr lang="en-US" sz="1800" dirty="0"/>
              <a:t>-independent genes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DNA binding is necessary for both functions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BosR</a:t>
            </a:r>
            <a:r>
              <a:rPr lang="en-US" sz="2000" dirty="0"/>
              <a:t> does not rely on a single consensus motif for promoter recognition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Biological significance: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This study shows how B. burgdorferi achieves complex transcriptional control with a minimal regulatory </a:t>
            </a:r>
            <a:r>
              <a:rPr lang="en-US" sz="1800" dirty="0" err="1"/>
              <a:t>protiens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sz="1800" dirty="0"/>
              <a:t>This helps us understand how the bacterium adapts ticks vs mammals and how it controls genes that make it infectious</a:t>
            </a:r>
          </a:p>
          <a:p>
            <a:pPr lvl="1">
              <a:lnSpc>
                <a:spcPct val="150000"/>
              </a:lnSpc>
            </a:pPr>
            <a:endParaRPr lang="en-EG" sz="1800" dirty="0"/>
          </a:p>
        </p:txBody>
      </p:sp>
    </p:spTree>
    <p:extLst>
      <p:ext uri="{BB962C8B-B14F-4D97-AF65-F5344CB8AC3E}">
        <p14:creationId xmlns:p14="http://schemas.microsoft.com/office/powerpoint/2010/main" val="402366688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61</TotalTime>
  <Words>539</Words>
  <Application>Microsoft Macintosh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Corbel</vt:lpstr>
      <vt:lpstr>Gill Sans MT</vt:lpstr>
      <vt:lpstr>Parcel</vt:lpstr>
      <vt:lpstr>DNA Binding by BosR Controls RpoS-­ Dependent and -­ Independent Gene Expression in Borrelia burgdorferi</vt:lpstr>
      <vt:lpstr>Introduction</vt:lpstr>
      <vt:lpstr>Conceptual Model</vt:lpstr>
      <vt:lpstr>Methods</vt:lpstr>
      <vt:lpstr>Key findings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DNA Binding by BosR Controls RpoS-­ Dependent and -­ Independent Gene Expression in Borrelia burgdorferi</dc:title>
  <dc:creator>Toka Othman</dc:creator>
  <cp:lastModifiedBy>Toka Othman</cp:lastModifiedBy>
  <cp:revision>3</cp:revision>
  <dcterms:created xsi:type="dcterms:W3CDTF">2026-01-29T07:46:04Z</dcterms:created>
  <dcterms:modified xsi:type="dcterms:W3CDTF">2026-01-29T08:47:45Z</dcterms:modified>
</cp:coreProperties>
</file>