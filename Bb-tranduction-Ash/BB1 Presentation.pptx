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1pPr>
    <a:lvl2pPr marL="0" marR="0" indent="4572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2pPr>
    <a:lvl3pPr marL="0" marR="0" indent="9144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3pPr>
    <a:lvl4pPr marL="0" marR="0" indent="13716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4pPr>
    <a:lvl5pPr marL="0" marR="0" indent="18288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5pPr>
    <a:lvl6pPr marL="0" marR="0" indent="22860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6pPr>
    <a:lvl7pPr marL="0" marR="0" indent="27432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7pPr>
    <a:lvl8pPr marL="0" marR="0" indent="32004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8pPr>
    <a:lvl9pPr marL="0" marR="0" indent="365760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Graphik"/>
          <a:ea typeface="Graphik"/>
          <a:cs typeface="Graphik"/>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CEEEE"/>
          </a:solidFill>
        </a:fill>
      </a:tcStyle>
    </a:band2H>
    <a:firstCol>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9036"/>
              <a:lumOff val="17111"/>
            </a:schemeClr>
          </a:solidFill>
        </a:fill>
      </a:tcStyle>
    </a:band2H>
    <a:firstCol>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b="def" i="def"/>
      <a:tcStyle>
        <a:tcBdr/>
        <a:fill>
          <a:solidFill>
            <a:srgbClr val="ECEEEF"/>
          </a:solidFill>
        </a:fill>
      </a:tcStyle>
    </a:band2H>
    <a:firstCol>
      <a:tcTxStyle b="on" i="off">
        <a:font>
          <a:latin typeface="Graphik Semibold"/>
          <a:ea typeface="Graphik Semibold"/>
          <a:cs typeface="Graphik S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Graphik Semibold"/>
          <a:ea typeface="Graphik Semibold"/>
          <a:cs typeface="Graphik S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F"/>
          </a:solidFill>
        </a:fill>
      </a:tcStyle>
    </a:band2H>
    <a:firstCol>
      <a:tcTxStyle b="on" i="off">
        <a:font>
          <a:latin typeface="Graphik Semibold"/>
          <a:ea typeface="Graphik Semibold"/>
          <a:cs typeface="Graphik S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19200" y="11986162"/>
            <a:ext cx="21945599" cy="605791"/>
          </a:xfrm>
          <a:prstGeom prst="rect">
            <a:avLst/>
          </a:prstGeom>
        </p:spPr>
        <p:txBody>
          <a:bodyPr/>
          <a:lstStyle>
            <a:lvl1pPr marL="0" indent="0" algn="ctr" defTabSz="825500">
              <a:lnSpc>
                <a:spcPct val="100000"/>
              </a:lnSpc>
              <a:spcBef>
                <a:spcPts val="0"/>
              </a:spcBef>
              <a:buSzTx/>
              <a:buNone/>
              <a:defRPr spc="-29" sz="3000">
                <a:latin typeface="Graphik Medium"/>
                <a:ea typeface="Graphik Medium"/>
                <a:cs typeface="Graphik Medium"/>
                <a:sym typeface="Graphik Medium"/>
              </a:defRPr>
            </a:lvl1pPr>
          </a:lstStyle>
          <a:p>
            <a:pPr/>
            <a:r>
              <a:t>Author and Date</a:t>
            </a:r>
          </a:p>
        </p:txBody>
      </p:sp>
      <p:sp>
        <p:nvSpPr>
          <p:cNvPr id="12" name="Presentation Title"/>
          <p:cNvSpPr txBox="1"/>
          <p:nvPr>
            <p:ph type="title" hasCustomPrompt="1"/>
          </p:nvPr>
        </p:nvSpPr>
        <p:spPr>
          <a:xfrm>
            <a:off x="1219200" y="3543300"/>
            <a:ext cx="21945600" cy="4267200"/>
          </a:xfrm>
          <a:prstGeom prst="rect">
            <a:avLst/>
          </a:prstGeom>
        </p:spPr>
        <p:txBody>
          <a:bodyPr anchor="b"/>
          <a:lstStyle>
            <a:lvl1pPr>
              <a:defRPr spc="-128" sz="12800"/>
            </a:lvl1pPr>
          </a:lstStyle>
          <a:p>
            <a:pPr/>
            <a:r>
              <a:t>Presentation Title</a:t>
            </a:r>
          </a:p>
        </p:txBody>
      </p:sp>
      <p:sp>
        <p:nvSpPr>
          <p:cNvPr id="13" name="Body Level One…"/>
          <p:cNvSpPr txBox="1"/>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pc="-59" sz="6000">
                <a:latin typeface="Graphik Semibold"/>
                <a:ea typeface="Graphik Semibold"/>
                <a:cs typeface="Graphik Semibold"/>
                <a:sym typeface="Graphik Semibold"/>
              </a:defRPr>
            </a:lvl1pPr>
            <a:lvl2pPr marL="0" indent="457200" algn="ctr" defTabSz="825500">
              <a:lnSpc>
                <a:spcPct val="100000"/>
              </a:lnSpc>
              <a:spcBef>
                <a:spcPts val="0"/>
              </a:spcBef>
              <a:buSzTx/>
              <a:buNone/>
              <a:defRPr spc="-59" sz="6000">
                <a:latin typeface="Graphik Semibold"/>
                <a:ea typeface="Graphik Semibold"/>
                <a:cs typeface="Graphik Semibold"/>
                <a:sym typeface="Graphik Semibold"/>
              </a:defRPr>
            </a:lvl2pPr>
            <a:lvl3pPr marL="0" indent="914400" algn="ctr" defTabSz="825500">
              <a:lnSpc>
                <a:spcPct val="100000"/>
              </a:lnSpc>
              <a:spcBef>
                <a:spcPts val="0"/>
              </a:spcBef>
              <a:buSzTx/>
              <a:buNone/>
              <a:defRPr spc="-59" sz="6000">
                <a:latin typeface="Graphik Semibold"/>
                <a:ea typeface="Graphik Semibold"/>
                <a:cs typeface="Graphik Semibold"/>
                <a:sym typeface="Graphik Semibold"/>
              </a:defRPr>
            </a:lvl3pPr>
            <a:lvl4pPr marL="0" indent="1371600" algn="ctr" defTabSz="825500">
              <a:lnSpc>
                <a:spcPct val="100000"/>
              </a:lnSpc>
              <a:spcBef>
                <a:spcPts val="0"/>
              </a:spcBef>
              <a:buSzTx/>
              <a:buNone/>
              <a:defRPr spc="-59" sz="6000">
                <a:latin typeface="Graphik Semibold"/>
                <a:ea typeface="Graphik Semibold"/>
                <a:cs typeface="Graphik Semibold"/>
                <a:sym typeface="Graphik Semibold"/>
              </a:defRPr>
            </a:lvl4pPr>
            <a:lvl5pPr marL="0" indent="1828800" algn="ctr" defTabSz="825500">
              <a:lnSpc>
                <a:spcPct val="100000"/>
              </a:lnSpc>
              <a:spcBef>
                <a:spcPts val="0"/>
              </a:spcBef>
              <a:buSzTx/>
              <a:buNone/>
              <a:defRPr spc="-59" sz="6000">
                <a:latin typeface="Graphik Semibold"/>
                <a:ea typeface="Graphik Semibold"/>
                <a:cs typeface="Graphik Semibold"/>
                <a:sym typeface="Graphik Semibold"/>
              </a:defRPr>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Beach and sea at sunset"/>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19200" y="3543300"/>
            <a:ext cx="21945600" cy="4267200"/>
          </a:xfrm>
          <a:prstGeom prst="rect">
            <a:avLst/>
          </a:prstGeom>
        </p:spPr>
        <p:txBody>
          <a:bodyPr anchor="b"/>
          <a:lstStyle>
            <a:lvl1pPr>
              <a:defRPr spc="-128" sz="12800">
                <a:solidFill>
                  <a:srgbClr val="FFFFFF"/>
                </a:solidFill>
              </a:defRPr>
            </a:lvl1pPr>
          </a:lstStyle>
          <a:p>
            <a:pPr/>
            <a:r>
              <a:t>Presentation Title</a:t>
            </a:r>
          </a:p>
        </p:txBody>
      </p:sp>
      <p:sp>
        <p:nvSpPr>
          <p:cNvPr id="23" name="Body Level One…"/>
          <p:cNvSpPr txBox="1"/>
          <p:nvPr>
            <p:ph type="body" sz="quarter" idx="1" hasCustomPrompt="1"/>
          </p:nvPr>
        </p:nvSpPr>
        <p:spPr>
          <a:xfrm>
            <a:off x="1219200" y="7569200"/>
            <a:ext cx="21945600" cy="2252112"/>
          </a:xfrm>
          <a:prstGeom prst="rect">
            <a:avLst/>
          </a:prstGeom>
        </p:spPr>
        <p:txBody>
          <a:bodyPr/>
          <a:lstStyle>
            <a:lvl1pPr marL="0" indent="0" algn="ctr" defTabSz="825500">
              <a:lnSpc>
                <a:spcPct val="100000"/>
              </a:lnSpc>
              <a:spcBef>
                <a:spcPts val="0"/>
              </a:spcBef>
              <a:buSzTx/>
              <a:buNone/>
              <a:defRPr spc="-59" sz="6000">
                <a:solidFill>
                  <a:srgbClr val="FFFFFF"/>
                </a:solidFill>
                <a:latin typeface="Graphik Semibold"/>
                <a:ea typeface="Graphik Semibold"/>
                <a:cs typeface="Graphik Semibold"/>
                <a:sym typeface="Graphik Semibold"/>
              </a:defRPr>
            </a:lvl1pPr>
            <a:lvl2pPr marL="0" indent="457200" algn="ctr" defTabSz="825500">
              <a:lnSpc>
                <a:spcPct val="100000"/>
              </a:lnSpc>
              <a:spcBef>
                <a:spcPts val="0"/>
              </a:spcBef>
              <a:buSzTx/>
              <a:buNone/>
              <a:defRPr spc="-59" sz="6000">
                <a:solidFill>
                  <a:srgbClr val="FFFFFF"/>
                </a:solidFill>
                <a:latin typeface="Graphik Semibold"/>
                <a:ea typeface="Graphik Semibold"/>
                <a:cs typeface="Graphik Semibold"/>
                <a:sym typeface="Graphik Semibold"/>
              </a:defRPr>
            </a:lvl2pPr>
            <a:lvl3pPr marL="0" indent="914400" algn="ctr" defTabSz="825500">
              <a:lnSpc>
                <a:spcPct val="100000"/>
              </a:lnSpc>
              <a:spcBef>
                <a:spcPts val="0"/>
              </a:spcBef>
              <a:buSzTx/>
              <a:buNone/>
              <a:defRPr spc="-59" sz="6000">
                <a:solidFill>
                  <a:srgbClr val="FFFFFF"/>
                </a:solidFill>
                <a:latin typeface="Graphik Semibold"/>
                <a:ea typeface="Graphik Semibold"/>
                <a:cs typeface="Graphik Semibold"/>
                <a:sym typeface="Graphik Semibold"/>
              </a:defRPr>
            </a:lvl3pPr>
            <a:lvl4pPr marL="0" indent="1371600" algn="ctr" defTabSz="825500">
              <a:lnSpc>
                <a:spcPct val="100000"/>
              </a:lnSpc>
              <a:spcBef>
                <a:spcPts val="0"/>
              </a:spcBef>
              <a:buSzTx/>
              <a:buNone/>
              <a:defRPr spc="-59" sz="6000">
                <a:solidFill>
                  <a:srgbClr val="FFFFFF"/>
                </a:solidFill>
                <a:latin typeface="Graphik Semibold"/>
                <a:ea typeface="Graphik Semibold"/>
                <a:cs typeface="Graphik Semibold"/>
                <a:sym typeface="Graphik Semibold"/>
              </a:defRPr>
            </a:lvl4pPr>
            <a:lvl5pPr marL="0" indent="1828800" algn="ctr" defTabSz="825500">
              <a:lnSpc>
                <a:spcPct val="100000"/>
              </a:lnSpc>
              <a:spcBef>
                <a:spcPts val="0"/>
              </a:spcBef>
              <a:buSzTx/>
              <a:buNone/>
              <a:defRPr spc="-59" sz="6000">
                <a:solidFill>
                  <a:srgbClr val="FFFFFF"/>
                </a:solidFill>
                <a:latin typeface="Graphik Semibold"/>
                <a:ea typeface="Graphik Semibold"/>
                <a:cs typeface="Graphik Semibold"/>
                <a:sym typeface="Graphik Semibold"/>
              </a:defRPr>
            </a:lvl5pPr>
          </a:lstStyle>
          <a:p>
            <a:pPr/>
            <a:r>
              <a:t>Presentation Subtitle</a:t>
            </a:r>
          </a:p>
          <a:p>
            <a:pPr lvl="1"/>
            <a:r>
              <a:t/>
            </a:r>
          </a:p>
          <a:p>
            <a:pPr lvl="2"/>
            <a:r>
              <a:t/>
            </a:r>
          </a:p>
          <a:p>
            <a:pPr lvl="3"/>
            <a:r>
              <a:t/>
            </a:r>
          </a:p>
          <a:p>
            <a:pPr lvl="4"/>
            <a:r>
              <a:t/>
            </a:r>
          </a:p>
        </p:txBody>
      </p:sp>
      <p:sp>
        <p:nvSpPr>
          <p:cNvPr id="24" name="Author and Date"/>
          <p:cNvSpPr txBox="1"/>
          <p:nvPr>
            <p:ph type="body" sz="quarter" idx="22" hasCustomPrompt="1"/>
          </p:nvPr>
        </p:nvSpPr>
        <p:spPr>
          <a:xfrm>
            <a:off x="1219200" y="11988800"/>
            <a:ext cx="21945602" cy="605791"/>
          </a:xfrm>
          <a:prstGeom prst="rect">
            <a:avLst/>
          </a:prstGeom>
        </p:spPr>
        <p:txBody>
          <a:bodyPr/>
          <a:lstStyle>
            <a:lvl1pPr marL="0" indent="0" algn="ctr" defTabSz="825500">
              <a:lnSpc>
                <a:spcPct val="100000"/>
              </a:lnSpc>
              <a:spcBef>
                <a:spcPts val="0"/>
              </a:spcBef>
              <a:buSzTx/>
              <a:buNone/>
              <a:defRPr spc="-29" sz="3000">
                <a:solidFill>
                  <a:srgbClr val="FFFFFF"/>
                </a:solidFill>
                <a:latin typeface="Graphik Medium"/>
                <a:ea typeface="Graphik Medium"/>
                <a:cs typeface="Graphik Medium"/>
                <a:sym typeface="Graphik Medium"/>
              </a:defRPr>
            </a:lvl1pPr>
          </a:lstStyle>
          <a:p>
            <a:pPr/>
            <a:r>
              <a:t>Author and Date</a:t>
            </a:r>
          </a:p>
        </p:txBody>
      </p:sp>
      <p:sp>
        <p:nvSpPr>
          <p:cNvPr id="2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Slide Title"/>
          <p:cNvSpPr txBox="1"/>
          <p:nvPr>
            <p:ph type="title" hasCustomPrompt="1"/>
          </p:nvPr>
        </p:nvSpPr>
        <p:spPr>
          <a:xfrm>
            <a:off x="1215495" y="4585102"/>
            <a:ext cx="9757338" cy="2540001"/>
          </a:xfrm>
          <a:prstGeom prst="rect">
            <a:avLst/>
          </a:prstGeom>
        </p:spPr>
        <p:txBody>
          <a:bodyPr anchor="b"/>
          <a:lstStyle/>
          <a:p>
            <a:pPr/>
            <a:r>
              <a:t>Slide Title</a:t>
            </a:r>
          </a:p>
        </p:txBody>
      </p:sp>
      <p:sp>
        <p:nvSpPr>
          <p:cNvPr id="33" name="Sea against sky at sunset"/>
          <p:cNvSpPr/>
          <p:nvPr>
            <p:ph type="pic" idx="21"/>
          </p:nvPr>
        </p:nvSpPr>
        <p:spPr>
          <a:xfrm>
            <a:off x="9283700" y="1270000"/>
            <a:ext cx="16751300" cy="11176000"/>
          </a:xfrm>
          <a:prstGeom prst="rect">
            <a:avLst/>
          </a:prstGeom>
        </p:spPr>
        <p:txBody>
          <a:bodyPr lIns="91439" tIns="45719" rIns="91439" bIns="45719">
            <a:noAutofit/>
          </a:bodyPr>
          <a:lstStyle/>
          <a:p>
            <a:pPr/>
          </a:p>
        </p:txBody>
      </p:sp>
      <p:sp>
        <p:nvSpPr>
          <p:cNvPr id="34" name="Body Level One…"/>
          <p:cNvSpPr txBox="1"/>
          <p:nvPr>
            <p:ph type="body" sz="quarter" idx="1" hasCustomPrompt="1"/>
          </p:nvPr>
        </p:nvSpPr>
        <p:spPr>
          <a:xfrm>
            <a:off x="1219200" y="7016750"/>
            <a:ext cx="9753600" cy="5416550"/>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vl2pPr marL="0" indent="457200" algn="ctr" defTabSz="825500">
              <a:lnSpc>
                <a:spcPct val="100000"/>
              </a:lnSpc>
              <a:spcBef>
                <a:spcPts val="0"/>
              </a:spcBef>
              <a:buSzTx/>
              <a:buNone/>
              <a:defRPr spc="-44">
                <a:latin typeface="Graphik Semibold"/>
                <a:ea typeface="Graphik Semibold"/>
                <a:cs typeface="Graphik Semibold"/>
                <a:sym typeface="Graphik Semibold"/>
              </a:defRPr>
            </a:lvl2pPr>
            <a:lvl3pPr marL="0" indent="914400" algn="ctr" defTabSz="825500">
              <a:lnSpc>
                <a:spcPct val="100000"/>
              </a:lnSpc>
              <a:spcBef>
                <a:spcPts val="0"/>
              </a:spcBef>
              <a:buSzTx/>
              <a:buNone/>
              <a:defRPr spc="-44">
                <a:latin typeface="Graphik Semibold"/>
                <a:ea typeface="Graphik Semibold"/>
                <a:cs typeface="Graphik Semibold"/>
                <a:sym typeface="Graphik Semibold"/>
              </a:defRPr>
            </a:lvl3pPr>
            <a:lvl4pPr marL="0" indent="1371600" algn="ctr" defTabSz="825500">
              <a:lnSpc>
                <a:spcPct val="100000"/>
              </a:lnSpc>
              <a:spcBef>
                <a:spcPts val="0"/>
              </a:spcBef>
              <a:buSzTx/>
              <a:buNone/>
              <a:defRPr spc="-44">
                <a:latin typeface="Graphik Semibold"/>
                <a:ea typeface="Graphik Semibold"/>
                <a:cs typeface="Graphik Semibold"/>
                <a:sym typeface="Graphik Semibold"/>
              </a:defRPr>
            </a:lvl4pPr>
            <a:lvl5pPr marL="0" indent="1828800" algn="ctr" defTabSz="825500">
              <a:lnSpc>
                <a:spcPct val="100000"/>
              </a:lnSpc>
              <a:spcBef>
                <a:spcPts val="0"/>
              </a:spcBef>
              <a:buSzTx/>
              <a:buNone/>
              <a:defRPr spc="-44">
                <a:latin typeface="Graphik Semibold"/>
                <a:ea typeface="Graphik Semibold"/>
                <a:cs typeface="Graphik Semibold"/>
                <a:sym typeface="Graphik Semibold"/>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4" name="Slide Subtitle"/>
          <p:cNvSpPr txBox="1"/>
          <p:nvPr>
            <p:ph type="body" sz="quarter" idx="21" hasCustomPrompt="1"/>
          </p:nvPr>
        </p:nvSpPr>
        <p:spPr>
          <a:xfrm>
            <a:off x="1219200" y="2384648"/>
            <a:ext cx="21945602" cy="832613"/>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Slide Subtitle</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xfrm>
            <a:off x="1219200" y="4013200"/>
            <a:ext cx="21945600" cy="8487148"/>
          </a:xfrm>
          <a:prstGeom prst="rect">
            <a:avLst/>
          </a:prstGeom>
        </p:spPr>
        <p:txBody>
          <a:bodyPr numCol="2" spcCol="2558384"/>
          <a:lstStyle/>
          <a:p>
            <a:pPr/>
            <a:r>
              <a:t>Slide bullet text</a:t>
            </a:r>
          </a:p>
          <a:p>
            <a:pPr lvl="1"/>
            <a:r>
              <a:t/>
            </a:r>
          </a:p>
          <a:p>
            <a:pPr lvl="2"/>
            <a:r>
              <a:t/>
            </a:r>
          </a:p>
          <a:p>
            <a:pPr lvl="3"/>
            <a:r>
              <a:t/>
            </a:r>
          </a:p>
          <a:p>
            <a:pPr lvl="4"/>
            <a:r>
              <a:t/>
            </a:r>
          </a:p>
        </p:txBody>
      </p:sp>
      <p:sp>
        <p:nvSpPr>
          <p:cNvPr id="53"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Title"/>
          <p:cNvSpPr txBox="1"/>
          <p:nvPr>
            <p:ph type="title" hasCustomPrompt="1"/>
          </p:nvPr>
        </p:nvSpPr>
        <p:spPr>
          <a:xfrm>
            <a:off x="1219200" y="774700"/>
            <a:ext cx="9753600" cy="1600200"/>
          </a:xfrm>
          <a:prstGeom prst="rect">
            <a:avLst/>
          </a:prstGeom>
        </p:spPr>
        <p:txBody>
          <a:bodyPr/>
          <a:lstStyle/>
          <a:p>
            <a:pPr/>
            <a:r>
              <a:t>Slide Title</a:t>
            </a:r>
          </a:p>
        </p:txBody>
      </p:sp>
      <p:sp>
        <p:nvSpPr>
          <p:cNvPr id="61" name="Sea against sky at sunset"/>
          <p:cNvSpPr/>
          <p:nvPr>
            <p:ph type="pic" idx="21"/>
          </p:nvPr>
        </p:nvSpPr>
        <p:spPr>
          <a:xfrm>
            <a:off x="12192644" y="718588"/>
            <a:ext cx="10972801" cy="12329624"/>
          </a:xfrm>
          <a:prstGeom prst="rect">
            <a:avLst/>
          </a:prstGeom>
        </p:spPr>
        <p:txBody>
          <a:bodyPr lIns="91439" tIns="45719" rIns="91439" bIns="45719">
            <a:noAutofit/>
          </a:bodyPr>
          <a:lstStyle/>
          <a:p>
            <a:pPr/>
          </a:p>
        </p:txBody>
      </p:sp>
      <p:sp>
        <p:nvSpPr>
          <p:cNvPr id="62" name="Slide Subtitle"/>
          <p:cNvSpPr txBox="1"/>
          <p:nvPr>
            <p:ph type="body" sz="quarter" idx="22"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Slide Subtitle</a:t>
            </a:r>
          </a:p>
        </p:txBody>
      </p:sp>
      <p:sp>
        <p:nvSpPr>
          <p:cNvPr id="63" name="Body Level One…"/>
          <p:cNvSpPr txBox="1"/>
          <p:nvPr>
            <p:ph type="body" sz="half" idx="1" hasCustomPrompt="1"/>
          </p:nvPr>
        </p:nvSpPr>
        <p:spPr>
          <a:xfrm>
            <a:off x="1219200" y="4023221"/>
            <a:ext cx="9757569" cy="8384679"/>
          </a:xfrm>
          <a:prstGeom prst="rect">
            <a:avLst/>
          </a:prstGeom>
        </p:spPr>
        <p:txBody>
          <a:bodyPr/>
          <a:lstStyle/>
          <a:p>
            <a:pPr/>
            <a:r>
              <a:t>Slide bullet text</a:t>
            </a:r>
          </a:p>
          <a:p>
            <a:pPr lvl="1"/>
            <a:r>
              <a:t/>
            </a:r>
          </a:p>
          <a:p>
            <a:pPr lvl="2"/>
            <a:r>
              <a:t/>
            </a:r>
          </a:p>
          <a:p>
            <a:pPr lvl="3"/>
            <a:r>
              <a:t/>
            </a:r>
          </a:p>
          <a:p>
            <a:pPr lvl="4"/>
            <a:r>
              <a:t/>
            </a:r>
          </a:p>
        </p:txBody>
      </p:sp>
      <p:sp>
        <p:nvSpPr>
          <p:cNvPr id="64" name="Slide Number"/>
          <p:cNvSpPr txBox="1"/>
          <p:nvPr>
            <p:ph type="sldNum" sz="quarter" idx="2"/>
          </p:nvPr>
        </p:nvSpPr>
        <p:spPr>
          <a:xfrm>
            <a:off x="1200403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Title"/>
          <p:cNvSpPr txBox="1"/>
          <p:nvPr>
            <p:ph type="title" hasCustomPrompt="1"/>
          </p:nvPr>
        </p:nvSpPr>
        <p:spPr>
          <a:xfrm>
            <a:off x="1219200" y="774700"/>
            <a:ext cx="9753600" cy="1600200"/>
          </a:xfrm>
          <a:prstGeom prst="rect">
            <a:avLst/>
          </a:prstGeom>
        </p:spPr>
        <p:txBody>
          <a:bodyPr/>
          <a:lstStyle/>
          <a:p>
            <a:pPr/>
            <a:r>
              <a:t>Slide Title</a:t>
            </a:r>
          </a:p>
        </p:txBody>
      </p:sp>
      <p:sp>
        <p:nvSpPr>
          <p:cNvPr id="72" name="Slide Subtitle"/>
          <p:cNvSpPr txBox="1"/>
          <p:nvPr>
            <p:ph type="body" sz="quarter" idx="2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Slide Subtitle</a:t>
            </a:r>
          </a:p>
        </p:txBody>
      </p:sp>
      <p:sp>
        <p:nvSpPr>
          <p:cNvPr id="73" name="Body Level One…"/>
          <p:cNvSpPr txBox="1"/>
          <p:nvPr>
            <p:ph type="body" sz="half" idx="1" hasCustomPrompt="1"/>
          </p:nvPr>
        </p:nvSpPr>
        <p:spPr>
          <a:xfrm>
            <a:off x="1219200" y="4023221"/>
            <a:ext cx="9757569" cy="8384679"/>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xfrm>
            <a:off x="1200403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Title"/>
          <p:cNvSpPr txBox="1"/>
          <p:nvPr>
            <p:ph type="title" hasCustomPrompt="1"/>
          </p:nvPr>
        </p:nvSpPr>
        <p:spPr>
          <a:xfrm>
            <a:off x="1219200" y="774700"/>
            <a:ext cx="9753600" cy="1600200"/>
          </a:xfrm>
          <a:prstGeom prst="rect">
            <a:avLst/>
          </a:prstGeom>
        </p:spPr>
        <p:txBody>
          <a:bodyPr/>
          <a:lstStyle/>
          <a:p>
            <a:pPr/>
            <a:r>
              <a:t>Slide Title</a:t>
            </a:r>
          </a:p>
        </p:txBody>
      </p:sp>
      <p:sp>
        <p:nvSpPr>
          <p:cNvPr id="82" name="Slide Subtitle"/>
          <p:cNvSpPr txBox="1"/>
          <p:nvPr>
            <p:ph type="body" sz="quarter" idx="21" hasCustomPrompt="1"/>
          </p:nvPr>
        </p:nvSpPr>
        <p:spPr>
          <a:xfrm>
            <a:off x="1219200" y="2387600"/>
            <a:ext cx="9757569" cy="832612"/>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Slide Subtitle</a:t>
            </a:r>
          </a:p>
        </p:txBody>
      </p:sp>
      <p:sp>
        <p:nvSpPr>
          <p:cNvPr id="83" name="Body Level One…"/>
          <p:cNvSpPr txBox="1"/>
          <p:nvPr>
            <p:ph type="body" sz="half" idx="1" hasCustomPrompt="1"/>
          </p:nvPr>
        </p:nvSpPr>
        <p:spPr>
          <a:xfrm>
            <a:off x="1219200" y="4023221"/>
            <a:ext cx="9757569" cy="8384679"/>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xfrm>
            <a:off x="1200403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19200" y="3242270"/>
            <a:ext cx="21945600" cy="6604001"/>
          </a:xfrm>
          <a:prstGeom prst="rect">
            <a:avLst/>
          </a:prstGeom>
        </p:spPr>
        <p:txBody>
          <a:bodyPr anchor="ctr"/>
          <a:lstStyle>
            <a:lvl1pPr>
              <a:defRPr spc="0" sz="12800"/>
            </a:lvl1pPr>
          </a:lstStyle>
          <a:p>
            <a:pPr/>
            <a:r>
              <a:t>Section Title</a:t>
            </a:r>
          </a:p>
        </p:txBody>
      </p:sp>
      <p:sp>
        <p:nvSpPr>
          <p:cNvPr id="92"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prstGeom prst="rect">
            <a:avLst/>
          </a:prstGeom>
        </p:spPr>
        <p:txBody>
          <a:bodyPr/>
          <a:lstStyle/>
          <a:p>
            <a:pPr/>
            <a:r>
              <a:t>Slide Title</a:t>
            </a:r>
          </a:p>
        </p:txBody>
      </p:sp>
      <p:sp>
        <p:nvSpPr>
          <p:cNvPr id="100" name="Slide Subtitle"/>
          <p:cNvSpPr txBox="1"/>
          <p:nvPr>
            <p:ph type="body" sz="quarter" idx="21" hasCustomPrompt="1"/>
          </p:nvPr>
        </p:nvSpPr>
        <p:spPr>
          <a:xfrm>
            <a:off x="1219200" y="2384648"/>
            <a:ext cx="21945602" cy="832613"/>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Slide Subtitle</a:t>
            </a:r>
          </a:p>
        </p:txBody>
      </p:sp>
      <p:sp>
        <p:nvSpPr>
          <p:cNvPr id="101"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prstGeom prst="rect">
            <a:avLst/>
          </a:prstGeom>
        </p:spPr>
        <p:txBody>
          <a:bodyPr/>
          <a:lstStyle/>
          <a:p>
            <a:pPr/>
            <a:r>
              <a:t>Agenda Title</a:t>
            </a:r>
          </a:p>
        </p:txBody>
      </p:sp>
      <p:sp>
        <p:nvSpPr>
          <p:cNvPr id="109" name="Body Level One…"/>
          <p:cNvSpPr txBox="1"/>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pc="-136" sz="6800">
                <a:latin typeface="Canela Deck Regular"/>
                <a:ea typeface="Canela Deck Regular"/>
                <a:cs typeface="Canela Deck Regular"/>
                <a:sym typeface="Canela Deck Regular"/>
              </a:defRPr>
            </a:lvl1pPr>
            <a:lvl2pPr marL="0" indent="457200" defTabSz="825500">
              <a:lnSpc>
                <a:spcPct val="100000"/>
              </a:lnSpc>
              <a:buSzTx/>
              <a:buNone/>
              <a:defRPr spc="-136" sz="6800">
                <a:latin typeface="Canela Deck Regular"/>
                <a:ea typeface="Canela Deck Regular"/>
                <a:cs typeface="Canela Deck Regular"/>
                <a:sym typeface="Canela Deck Regular"/>
              </a:defRPr>
            </a:lvl2pPr>
            <a:lvl3pPr marL="0" indent="914400" defTabSz="825500">
              <a:lnSpc>
                <a:spcPct val="100000"/>
              </a:lnSpc>
              <a:buSzTx/>
              <a:buNone/>
              <a:defRPr spc="-136" sz="6800">
                <a:latin typeface="Canela Deck Regular"/>
                <a:ea typeface="Canela Deck Regular"/>
                <a:cs typeface="Canela Deck Regular"/>
                <a:sym typeface="Canela Deck Regular"/>
              </a:defRPr>
            </a:lvl3pPr>
            <a:lvl4pPr marL="0" indent="1371600" defTabSz="825500">
              <a:lnSpc>
                <a:spcPct val="100000"/>
              </a:lnSpc>
              <a:buSzTx/>
              <a:buNone/>
              <a:defRPr spc="-136" sz="6800">
                <a:latin typeface="Canela Deck Regular"/>
                <a:ea typeface="Canela Deck Regular"/>
                <a:cs typeface="Canela Deck Regular"/>
                <a:sym typeface="Canela Deck Regular"/>
              </a:defRPr>
            </a:lvl4pPr>
            <a:lvl5pPr marL="0" indent="1828800" defTabSz="825500">
              <a:lnSpc>
                <a:spcPct val="100000"/>
              </a:lnSpc>
              <a:buSzTx/>
              <a:buNone/>
              <a:defRPr spc="-136" sz="6800">
                <a:latin typeface="Canela Deck Regular"/>
                <a:ea typeface="Canela Deck Regular"/>
                <a:cs typeface="Canela Deck Regular"/>
                <a:sym typeface="Canela Deck Regular"/>
              </a:defRPr>
            </a:lvl5pPr>
          </a:lstStyle>
          <a:p>
            <a:pPr/>
            <a:r>
              <a:t>Agenda Topics</a:t>
            </a:r>
          </a:p>
          <a:p>
            <a:pPr lvl="1"/>
            <a:r>
              <a:t/>
            </a:r>
          </a:p>
          <a:p>
            <a:pPr lvl="2"/>
            <a:r>
              <a:t/>
            </a:r>
          </a:p>
          <a:p>
            <a:pPr lvl="3"/>
            <a:r>
              <a:t/>
            </a:r>
          </a:p>
          <a:p>
            <a:pPr lvl="4"/>
            <a:r>
              <a:t/>
            </a:r>
          </a:p>
        </p:txBody>
      </p:sp>
      <p:sp>
        <p:nvSpPr>
          <p:cNvPr id="110" name="Agenda Subtitle"/>
          <p:cNvSpPr txBox="1"/>
          <p:nvPr>
            <p:ph type="body" sz="quarter" idx="21" hasCustomPrompt="1"/>
          </p:nvPr>
        </p:nvSpPr>
        <p:spPr>
          <a:xfrm>
            <a:off x="1219200" y="2387115"/>
            <a:ext cx="21945602" cy="832613"/>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Agenda Subtitle</a:t>
            </a:r>
          </a:p>
        </p:txBody>
      </p:sp>
      <p:sp>
        <p:nvSpPr>
          <p:cNvPr id="111"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Fact information"/>
          <p:cNvSpPr txBox="1"/>
          <p:nvPr>
            <p:ph type="body" sz="quarter" idx="21" hasCustomPrompt="1"/>
          </p:nvPr>
        </p:nvSpPr>
        <p:spPr>
          <a:xfrm>
            <a:off x="1219200" y="8462239"/>
            <a:ext cx="21945602" cy="832613"/>
          </a:xfrm>
          <a:prstGeom prst="rect">
            <a:avLst/>
          </a:prstGeom>
        </p:spPr>
        <p:txBody>
          <a:bodyP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Fact information</a:t>
            </a:r>
          </a:p>
        </p:txBody>
      </p:sp>
      <p:sp>
        <p:nvSpPr>
          <p:cNvPr id="127" name="Body Level One…"/>
          <p:cNvSpPr txBox="1"/>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mn-lt"/>
                <a:ea typeface="+mn-ea"/>
                <a:cs typeface="+mn-cs"/>
                <a:sym typeface="Canela Bold"/>
              </a:defRPr>
            </a:lvl1pPr>
            <a:lvl2pPr marL="0" indent="457200" algn="ctr" defTabSz="2438400">
              <a:lnSpc>
                <a:spcPct val="80000"/>
              </a:lnSpc>
              <a:spcBef>
                <a:spcPts val="0"/>
              </a:spcBef>
              <a:buSzTx/>
              <a:buNone/>
              <a:defRPr sz="22400">
                <a:latin typeface="+mn-lt"/>
                <a:ea typeface="+mn-ea"/>
                <a:cs typeface="+mn-cs"/>
                <a:sym typeface="Canela Bold"/>
              </a:defRPr>
            </a:lvl2pPr>
            <a:lvl3pPr marL="0" indent="914400" algn="ctr" defTabSz="2438400">
              <a:lnSpc>
                <a:spcPct val="80000"/>
              </a:lnSpc>
              <a:spcBef>
                <a:spcPts val="0"/>
              </a:spcBef>
              <a:buSzTx/>
              <a:buNone/>
              <a:defRPr sz="22400">
                <a:latin typeface="+mn-lt"/>
                <a:ea typeface="+mn-ea"/>
                <a:cs typeface="+mn-cs"/>
                <a:sym typeface="Canela Bold"/>
              </a:defRPr>
            </a:lvl3pPr>
            <a:lvl4pPr marL="0" indent="1371600" algn="ctr" defTabSz="2438400">
              <a:lnSpc>
                <a:spcPct val="80000"/>
              </a:lnSpc>
              <a:spcBef>
                <a:spcPts val="0"/>
              </a:spcBef>
              <a:buSzTx/>
              <a:buNone/>
              <a:defRPr sz="22400">
                <a:latin typeface="+mn-lt"/>
                <a:ea typeface="+mn-ea"/>
                <a:cs typeface="+mn-cs"/>
                <a:sym typeface="Canela Bold"/>
              </a:defRPr>
            </a:lvl4pPr>
            <a:lvl5pPr marL="0" indent="1828800" algn="ctr" defTabSz="2438400">
              <a:lnSpc>
                <a:spcPct val="80000"/>
              </a:lnSpc>
              <a:spcBef>
                <a:spcPts val="0"/>
              </a:spcBef>
              <a:buSzTx/>
              <a:buNone/>
              <a:defRPr sz="22400">
                <a:latin typeface="+mn-lt"/>
                <a:ea typeface="+mn-ea"/>
                <a:cs typeface="+mn-cs"/>
                <a:sym typeface="Canela Bold"/>
              </a:defRPr>
            </a:lvl5pPr>
          </a:lstStyle>
          <a:p>
            <a:pPr/>
            <a:r>
              <a:t>100%</a:t>
            </a:r>
          </a:p>
          <a:p>
            <a:pPr lvl="1"/>
            <a:r>
              <a:t/>
            </a:r>
          </a:p>
          <a:p>
            <a:pPr lvl="2"/>
            <a:r>
              <a:t/>
            </a:r>
          </a:p>
          <a:p>
            <a:pPr lvl="3"/>
            <a:r>
              <a:t/>
            </a:r>
          </a:p>
          <a:p>
            <a:pPr lvl="4"/>
            <a:r>
              <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spc="-44">
                <a:latin typeface="Graphik Semibold"/>
                <a:ea typeface="Graphik Semibold"/>
                <a:cs typeface="Graphik Semibold"/>
                <a:sym typeface="Graphik Semibold"/>
              </a:defRPr>
            </a:lvl1pPr>
          </a:lstStyle>
          <a:p>
            <a:pPr/>
            <a:r>
              <a:t>Attribution</a:t>
            </a:r>
          </a:p>
        </p:txBody>
      </p:sp>
      <p:sp>
        <p:nvSpPr>
          <p:cNvPr id="136" name="Body Level One…"/>
          <p:cNvSpPr txBox="1"/>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mn-lt"/>
                <a:ea typeface="+mn-ea"/>
                <a:cs typeface="+mn-cs"/>
                <a:sym typeface="Canela Bold"/>
              </a:defRPr>
            </a:lvl1pPr>
            <a:lvl2pPr marL="0" indent="457200" algn="ctr" defTabSz="2438400">
              <a:lnSpc>
                <a:spcPct val="80000"/>
              </a:lnSpc>
              <a:spcBef>
                <a:spcPts val="0"/>
              </a:spcBef>
              <a:buSzTx/>
              <a:buNone/>
              <a:defRPr sz="8400">
                <a:latin typeface="+mn-lt"/>
                <a:ea typeface="+mn-ea"/>
                <a:cs typeface="+mn-cs"/>
                <a:sym typeface="Canela Bold"/>
              </a:defRPr>
            </a:lvl2pPr>
            <a:lvl3pPr marL="0" indent="914400" algn="ctr" defTabSz="2438400">
              <a:lnSpc>
                <a:spcPct val="80000"/>
              </a:lnSpc>
              <a:spcBef>
                <a:spcPts val="0"/>
              </a:spcBef>
              <a:buSzTx/>
              <a:buNone/>
              <a:defRPr sz="8400">
                <a:latin typeface="+mn-lt"/>
                <a:ea typeface="+mn-ea"/>
                <a:cs typeface="+mn-cs"/>
                <a:sym typeface="Canela Bold"/>
              </a:defRPr>
            </a:lvl3pPr>
            <a:lvl4pPr marL="0" indent="1371600" algn="ctr" defTabSz="2438400">
              <a:lnSpc>
                <a:spcPct val="80000"/>
              </a:lnSpc>
              <a:spcBef>
                <a:spcPts val="0"/>
              </a:spcBef>
              <a:buSzTx/>
              <a:buNone/>
              <a:defRPr sz="8400">
                <a:latin typeface="+mn-lt"/>
                <a:ea typeface="+mn-ea"/>
                <a:cs typeface="+mn-cs"/>
                <a:sym typeface="Canela Bold"/>
              </a:defRPr>
            </a:lvl4pPr>
            <a:lvl5pPr marL="0" indent="1828800" algn="ctr" defTabSz="2438400">
              <a:lnSpc>
                <a:spcPct val="80000"/>
              </a:lnSpc>
              <a:spcBef>
                <a:spcPts val="0"/>
              </a:spcBef>
              <a:buSzTx/>
              <a:buNone/>
              <a:defRPr sz="8400">
                <a:latin typeface="+mn-lt"/>
                <a:ea typeface="+mn-ea"/>
                <a:cs typeface="+mn-cs"/>
                <a:sym typeface="Canela Bold"/>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Sea against sky at sunset 2"/>
          <p:cNvSpPr/>
          <p:nvPr>
            <p:ph type="pic" sz="quarter" idx="21"/>
          </p:nvPr>
        </p:nvSpPr>
        <p:spPr>
          <a:xfrm>
            <a:off x="15744825" y="5581752"/>
            <a:ext cx="7365408" cy="8280401"/>
          </a:xfrm>
          <a:prstGeom prst="rect">
            <a:avLst/>
          </a:prstGeom>
        </p:spPr>
        <p:txBody>
          <a:bodyPr lIns="91439" tIns="45719" rIns="91439" bIns="45719">
            <a:noAutofit/>
          </a:bodyPr>
          <a:lstStyle/>
          <a:p>
            <a:pPr/>
          </a:p>
        </p:txBody>
      </p:sp>
      <p:sp>
        <p:nvSpPr>
          <p:cNvPr id="145" name="Sea against sky at sunset 1"/>
          <p:cNvSpPr/>
          <p:nvPr>
            <p:ph type="pic" sz="quarter" idx="22"/>
          </p:nvPr>
        </p:nvSpPr>
        <p:spPr>
          <a:xfrm>
            <a:off x="15363825" y="1270000"/>
            <a:ext cx="8115300" cy="5409006"/>
          </a:xfrm>
          <a:prstGeom prst="rect">
            <a:avLst/>
          </a:prstGeom>
        </p:spPr>
        <p:txBody>
          <a:bodyPr lIns="91439" tIns="45719" rIns="91439" bIns="45719">
            <a:noAutofit/>
          </a:bodyPr>
          <a:lstStyle/>
          <a:p>
            <a:pPr/>
          </a:p>
        </p:txBody>
      </p:sp>
      <p:sp>
        <p:nvSpPr>
          <p:cNvPr id="146" name="Beach and sea at sunset"/>
          <p:cNvSpPr/>
          <p:nvPr>
            <p:ph type="pic" idx="23"/>
          </p:nvPr>
        </p:nvSpPr>
        <p:spPr>
          <a:xfrm>
            <a:off x="-63500" y="1270000"/>
            <a:ext cx="16764000" cy="11176000"/>
          </a:xfrm>
          <a:prstGeom prst="rect">
            <a:avLst/>
          </a:prstGeom>
        </p:spPr>
        <p:txBody>
          <a:bodyPr lIns="91439" tIns="45719" rIns="91439" bIns="45719">
            <a:noAutofit/>
          </a:bodyPr>
          <a:lstStyle/>
          <a:p>
            <a:pPr/>
          </a:p>
        </p:txBody>
      </p:sp>
      <p:sp>
        <p:nvSpPr>
          <p:cNvPr id="147"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each and sea at sunset"/>
          <p:cNvSpPr/>
          <p:nvPr>
            <p:ph type="pic" idx="21"/>
          </p:nvPr>
        </p:nvSpPr>
        <p:spPr>
          <a:xfrm>
            <a:off x="1270000" y="-423334"/>
            <a:ext cx="21844000" cy="14562668"/>
          </a:xfrm>
          <a:prstGeom prst="rect">
            <a:avLst/>
          </a:prstGeom>
        </p:spPr>
        <p:txBody>
          <a:bodyPr lIns="91439" tIns="45719" rIns="91439" bIns="45719">
            <a:noAutofit/>
          </a:bodyPr>
          <a:lstStyle/>
          <a:p>
            <a:pPr/>
          </a:p>
        </p:txBody>
      </p:sp>
      <p:sp>
        <p:nvSpPr>
          <p:cNvPr id="155"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xfrm>
            <a:off x="12001499" y="1270000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1997689" y="12700000"/>
            <a:ext cx="388621" cy="42926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2000">
                <a:solidFill>
                  <a:srgbClr val="5E5E5E"/>
                </a:solidFill>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1pPr>
      <a:lvl2pPr marL="0" marR="0" indent="4572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2pPr>
      <a:lvl3pPr marL="0" marR="0" indent="9144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3pPr>
      <a:lvl4pPr marL="0" marR="0" indent="13716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4pPr>
      <a:lvl5pPr marL="0" marR="0" indent="18288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5pPr>
      <a:lvl6pPr marL="0" marR="0" indent="22860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6pPr>
      <a:lvl7pPr marL="0" marR="0" indent="27432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7pPr>
      <a:lvl8pPr marL="0" marR="0" indent="32004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8pPr>
      <a:lvl9pPr marL="0" marR="0" indent="3657600" algn="ctr" defTabSz="2438400" rtl="0" latinLnBrk="0">
        <a:lnSpc>
          <a:spcPct val="80000"/>
        </a:lnSpc>
        <a:spcBef>
          <a:spcPts val="0"/>
        </a:spcBef>
        <a:spcAft>
          <a:spcPts val="0"/>
        </a:spcAft>
        <a:buClrTx/>
        <a:buSzTx/>
        <a:buFontTx/>
        <a:buNone/>
        <a:tabLst/>
        <a:defRPr b="0" baseline="0" cap="none" i="0" spc="-84" strike="noStrike" sz="8400" u="none">
          <a:solidFill>
            <a:srgbClr val="000000"/>
          </a:solidFill>
          <a:uFillTx/>
          <a:latin typeface="+mn-lt"/>
          <a:ea typeface="+mn-ea"/>
          <a:cs typeface="+mn-cs"/>
          <a:sym typeface="Canela Bold"/>
        </a:defRPr>
      </a:lvl9pPr>
    </p:titleStyle>
    <p:bodyStyle>
      <a:lvl1pPr marL="5461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1pPr>
      <a:lvl2pPr marL="10922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2pPr>
      <a:lvl3pPr marL="16383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3pPr>
      <a:lvl4pPr marL="21844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4pPr>
      <a:lvl5pPr marL="27305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5pPr>
      <a:lvl6pPr marL="32766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6pPr>
      <a:lvl7pPr marL="38227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7pPr>
      <a:lvl8pPr marL="43688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8pPr>
      <a:lvl9pPr marL="4914900" marR="0" indent="-546100" algn="l" defTabSz="2438338" rtl="0" latinLnBrk="0">
        <a:lnSpc>
          <a:spcPct val="90000"/>
        </a:lnSpc>
        <a:spcBef>
          <a:spcPts val="2400"/>
        </a:spcBef>
        <a:spcAft>
          <a:spcPts val="0"/>
        </a:spcAft>
        <a:buClrTx/>
        <a:buSzPct val="150000"/>
        <a:buFontTx/>
        <a:buChar char="•"/>
        <a:tabLst/>
        <a:defRPr b="0" baseline="0" cap="none" i="0" spc="0" strike="noStrike" sz="4400" u="none">
          <a:solidFill>
            <a:srgbClr val="000000"/>
          </a:solidFill>
          <a:uFillTx/>
          <a:latin typeface="Canela Text Regular"/>
          <a:ea typeface="Canela Text Regular"/>
          <a:cs typeface="Canela Text Regular"/>
          <a:sym typeface="Canela Text Regular"/>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457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914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hyperlink" Target="https://journals.plos.org/plospathogens/article?id=10.1371/journal.ppat.1012122#ppat-1012122-g007"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hyperlink" Target="https://journals.plos.org/plospathogens/article?id=10.1371/journal.ppat.1012122#ppat-1012122-g006" TargetMode="Externa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hyperlink" Target="https://journals.plos.org/plospathogens/article?id=10.1371/journal.ppat.1012122#ppat.1012122.ref053"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Ashqul Islam 2/5/2026"/>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a:defRPr>
                <a:latin typeface="Times New Roman"/>
                <a:ea typeface="Times New Roman"/>
                <a:cs typeface="Times New Roman"/>
                <a:sym typeface="Times New Roman"/>
              </a:defRPr>
            </a:lvl1pPr>
          </a:lstStyle>
          <a:p>
            <a:pPr/>
            <a:r>
              <a:t>Ashqul Islam 2/5/2026</a:t>
            </a:r>
          </a:p>
        </p:txBody>
      </p:sp>
      <p:sp>
        <p:nvSpPr>
          <p:cNvPr id="172" name="Characterization and Genomic Analysis of the Lyme disease spirochete bacteriophage ϕBB-1"/>
          <p:cNvSpPr txBox="1"/>
          <p:nvPr>
            <p:ph type="ctrTitle"/>
          </p:nvPr>
        </p:nvSpPr>
        <p:spPr>
          <a:prstGeom prst="rect">
            <a:avLst/>
          </a:prstGeom>
        </p:spPr>
        <p:txBody>
          <a:bodyPr/>
          <a:lstStyle>
            <a:lvl1pPr defTabSz="1682495">
              <a:defRPr b="1" spc="-88" sz="8832">
                <a:latin typeface="Times New Roman"/>
                <a:ea typeface="Times New Roman"/>
                <a:cs typeface="Times New Roman"/>
                <a:sym typeface="Times New Roman"/>
              </a:defRPr>
            </a:lvl1pPr>
          </a:lstStyle>
          <a:p>
            <a:pPr/>
            <a:r>
              <a:t>Characterization and Genomic Analysis of the Lyme disease spirochete bacteriophage ϕBB-1</a:t>
            </a:r>
          </a:p>
        </p:txBody>
      </p:sp>
      <p:sp>
        <p:nvSpPr>
          <p:cNvPr id="173" name="Dominick R. Faith1☯, Margie Kinnersley1☯, Diane M. Brooks1, Dan Drecktrah1, Laura S. Hall1, Eric Luo2, Andrew Santiago-Frangos3, Jenny Wachter2, D. Scott Samuels1, Patrick R. SecorID1*"/>
          <p:cNvSpPr txBox="1"/>
          <p:nvPr/>
        </p:nvSpPr>
        <p:spPr>
          <a:xfrm>
            <a:off x="1194817" y="8217185"/>
            <a:ext cx="21994367" cy="936254"/>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lnSpc>
                <a:spcPct val="100000"/>
              </a:lnSpc>
              <a:spcBef>
                <a:spcPts val="1200"/>
              </a:spcBef>
              <a:defRPr b="1" sz="1900">
                <a:latin typeface="Helvetica"/>
                <a:ea typeface="Helvetica"/>
                <a:cs typeface="Helvetica"/>
                <a:sym typeface="Helvetica"/>
              </a:defRPr>
            </a:pPr>
            <a:r>
              <a:t>Dominick R. Faith</a:t>
            </a:r>
            <a:r>
              <a:rPr baseline="26315"/>
              <a:t>1</a:t>
            </a:r>
            <a:r>
              <a:rPr b="0" baseline="26315">
                <a:latin typeface="Arial Unicode MS"/>
                <a:ea typeface="Arial Unicode MS"/>
                <a:cs typeface="Arial Unicode MS"/>
                <a:sym typeface="Arial Unicode MS"/>
              </a:rPr>
              <a:t>☯</a:t>
            </a:r>
            <a:r>
              <a:t>, Margie Kinnersley</a:t>
            </a:r>
            <a:r>
              <a:rPr baseline="26315"/>
              <a:t>1</a:t>
            </a:r>
            <a:r>
              <a:rPr b="0" baseline="26315">
                <a:latin typeface="Arial Unicode MS"/>
                <a:ea typeface="Arial Unicode MS"/>
                <a:cs typeface="Arial Unicode MS"/>
                <a:sym typeface="Arial Unicode MS"/>
              </a:rPr>
              <a:t>☯</a:t>
            </a:r>
            <a:r>
              <a:t>, Diane M. Brooks</a:t>
            </a:r>
            <a:r>
              <a:rPr baseline="26315"/>
              <a:t>1</a:t>
            </a:r>
            <a:r>
              <a:t>, Dan Drecktrah</a:t>
            </a:r>
            <a:r>
              <a:rPr baseline="26315"/>
              <a:t>1</a:t>
            </a:r>
            <a:r>
              <a:t>, Laura S. Hall</a:t>
            </a:r>
            <a:r>
              <a:rPr baseline="26315"/>
              <a:t>1</a:t>
            </a:r>
            <a:r>
              <a:t>, Eric Luo</a:t>
            </a:r>
            <a:r>
              <a:rPr baseline="26315"/>
              <a:t>2</a:t>
            </a:r>
            <a:r>
              <a:t>, Andrew Santiago-Frangos</a:t>
            </a:r>
            <a:r>
              <a:rPr baseline="26315"/>
              <a:t>3</a:t>
            </a:r>
            <a:r>
              <a:t>, Jenny Wachter</a:t>
            </a:r>
            <a:r>
              <a:rPr baseline="26315"/>
              <a:t>2</a:t>
            </a:r>
            <a:r>
              <a:t>, D. Scott Samuels</a:t>
            </a:r>
            <a:r>
              <a:rPr baseline="26315"/>
              <a:t>1</a:t>
            </a:r>
            <a:r>
              <a:t>, Patrick R. Secor</a:t>
            </a:r>
            <a:r>
              <a:rPr baseline="-7894">
                <a:solidFill>
                  <a:srgbClr val="FFFFFF"/>
                </a:solidFill>
              </a:rPr>
              <a:t>ID</a:t>
            </a:r>
            <a:r>
              <a:rPr baseline="26315"/>
              <a:t>1</a:t>
            </a:r>
            <a:r>
              <a:rPr>
                <a:latin typeface="Times Roman"/>
                <a:ea typeface="Times Roman"/>
                <a:cs typeface="Times Roman"/>
                <a:sym typeface="Times Roman"/>
              </a:rPr>
              <a:t>*</a:t>
            </a:r>
            <a:endParaRPr b="0">
              <a:latin typeface="Times Roman"/>
              <a:ea typeface="Times Roman"/>
              <a:cs typeface="Times Roman"/>
              <a:sym typeface="Times Roman"/>
            </a:endParaRP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Background Info"/>
          <p:cNvSpPr txBox="1"/>
          <p:nvPr>
            <p:ph type="title"/>
          </p:nvPr>
        </p:nvSpPr>
        <p:spPr>
          <a:prstGeom prst="rect">
            <a:avLst/>
          </a:prstGeom>
        </p:spPr>
        <p:txBody>
          <a:bodyPr/>
          <a:lstStyle>
            <a:lvl1pPr>
              <a:defRPr b="1">
                <a:latin typeface="Times New Roman"/>
                <a:ea typeface="Times New Roman"/>
                <a:cs typeface="Times New Roman"/>
                <a:sym typeface="Times New Roman"/>
              </a:defRPr>
            </a:lvl1pPr>
          </a:lstStyle>
          <a:p>
            <a:pPr/>
            <a:r>
              <a:t>Background Info</a:t>
            </a:r>
          </a:p>
        </p:txBody>
      </p:sp>
      <p:sp>
        <p:nvSpPr>
          <p:cNvPr id="176" name="The genome of Borrelia burgdorferi (B. burgdorferi) has a ~900 kb linear chromosome…"/>
          <p:cNvSpPr txBox="1"/>
          <p:nvPr>
            <p:ph type="body" idx="1"/>
          </p:nvPr>
        </p:nvSpPr>
        <p:spPr>
          <a:xfrm>
            <a:off x="428842" y="4009348"/>
            <a:ext cx="23686403" cy="8483601"/>
          </a:xfrm>
          <a:prstGeom prst="rect">
            <a:avLst/>
          </a:prstGeom>
        </p:spPr>
        <p:txBody>
          <a:bodyPr/>
          <a:lstStyle/>
          <a:p>
            <a:pPr>
              <a:defRPr>
                <a:latin typeface="Times New Roman"/>
                <a:ea typeface="Times New Roman"/>
                <a:cs typeface="Times New Roman"/>
                <a:sym typeface="Times New Roman"/>
              </a:defRPr>
            </a:pPr>
            <a:r>
              <a:t>The genome of </a:t>
            </a:r>
            <a:r>
              <a:rPr i="1"/>
              <a:t>Borrelia burgdorferi </a:t>
            </a:r>
            <a:r>
              <a:t>(</a:t>
            </a:r>
            <a:r>
              <a:rPr i="1"/>
              <a:t>B. burgdorferi</a:t>
            </a:r>
            <a:r>
              <a:t>) has a ~900 kb linear chromosome</a:t>
            </a:r>
          </a:p>
          <a:p>
            <a:pPr>
              <a:defRPr>
                <a:latin typeface="Times New Roman"/>
                <a:ea typeface="Times New Roman"/>
                <a:cs typeface="Times New Roman"/>
                <a:sym typeface="Times New Roman"/>
              </a:defRPr>
            </a:pPr>
            <a:r>
              <a:t>Has both linear and circular plasmids</a:t>
            </a:r>
          </a:p>
          <a:p>
            <a:pPr>
              <a:defRPr>
                <a:latin typeface="Times New Roman"/>
                <a:ea typeface="Times New Roman"/>
                <a:cs typeface="Times New Roman"/>
                <a:sym typeface="Times New Roman"/>
              </a:defRPr>
            </a:pPr>
            <a:r>
              <a:t>Large number of genes encode for outer membrane lipoproteins</a:t>
            </a:r>
          </a:p>
          <a:p>
            <a:pPr>
              <a:defRPr>
                <a:latin typeface="Times New Roman"/>
                <a:ea typeface="Times New Roman"/>
                <a:cs typeface="Times New Roman"/>
                <a:sym typeface="Times New Roman"/>
              </a:defRPr>
            </a:pPr>
            <a:r>
              <a:t>Nearly all Lyme disease spirochetes contains the 32 kb circular cp32 prophage plasmid</a:t>
            </a:r>
          </a:p>
          <a:p>
            <a:pPr>
              <a:defRPr>
                <a:latin typeface="Times New Roman"/>
                <a:ea typeface="Times New Roman"/>
                <a:cs typeface="Times New Roman"/>
                <a:sym typeface="Times New Roman"/>
              </a:defRPr>
            </a:pPr>
            <a:r>
              <a:t>Additionally a linear lp54 plasmid is present with 1/3 genes paralogous to cp32</a:t>
            </a:r>
          </a:p>
          <a:p>
            <a:pPr>
              <a:defRPr>
                <a:latin typeface="Times New Roman"/>
                <a:ea typeface="Times New Roman"/>
                <a:cs typeface="Times New Roman"/>
                <a:sym typeface="Times New Roman"/>
              </a:defRPr>
            </a:pPr>
            <a:r>
              <a:t>When cp32 prophages are induced, they undergo lytic replication to produce the ϕBB-1 virion. </a:t>
            </a:r>
          </a:p>
          <a:p>
            <a:pPr>
              <a:defRPr>
                <a:latin typeface="Times New Roman"/>
                <a:ea typeface="Times New Roman"/>
                <a:cs typeface="Times New Roman"/>
                <a:sym typeface="Times New Roman"/>
              </a:defRPr>
            </a:pPr>
            <a:r>
              <a:t>Plasmids encode outer membrane lipoproteins such as the Osp family which facilitate bacterial lifecycle and immune evasion.</a:t>
            </a:r>
          </a:p>
          <a:p>
            <a:pPr>
              <a:defRPr>
                <a:latin typeface="Times New Roman"/>
                <a:ea typeface="Times New Roman"/>
                <a:cs typeface="Times New Roman"/>
                <a:sym typeface="Times New Roman"/>
              </a:defRPr>
            </a:pPr>
            <a:r>
              <a:t>In-vivo trigger is bloodmeal and located in tick midgut</a:t>
            </a:r>
          </a:p>
        </p:txBody>
      </p:sp>
      <p:sp>
        <p:nvSpPr>
          <p:cNvPr id="177" name="What is know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a:defRPr b="1">
                <a:latin typeface="Times New Roman"/>
                <a:ea typeface="Times New Roman"/>
                <a:cs typeface="Times New Roman"/>
                <a:sym typeface="Times New Roman"/>
              </a:defRPr>
            </a:lvl1pPr>
          </a:lstStyle>
          <a:p>
            <a:pPr/>
            <a:r>
              <a:t>What is known?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Background Info"/>
          <p:cNvSpPr txBox="1"/>
          <p:nvPr>
            <p:ph type="title"/>
          </p:nvPr>
        </p:nvSpPr>
        <p:spPr>
          <a:prstGeom prst="rect">
            <a:avLst/>
          </a:prstGeom>
        </p:spPr>
        <p:txBody>
          <a:bodyPr/>
          <a:lstStyle>
            <a:lvl1pPr>
              <a:defRPr b="1">
                <a:latin typeface="Times New Roman"/>
                <a:ea typeface="Times New Roman"/>
                <a:cs typeface="Times New Roman"/>
                <a:sym typeface="Times New Roman"/>
              </a:defRPr>
            </a:lvl1pPr>
          </a:lstStyle>
          <a:p>
            <a:pPr/>
            <a:r>
              <a:t>Background Info</a:t>
            </a:r>
          </a:p>
        </p:txBody>
      </p:sp>
      <p:sp>
        <p:nvSpPr>
          <p:cNvPr id="180" name="Horizontal transfer occurs in B. burgdorferi but the mechanism is unknown…"/>
          <p:cNvSpPr txBox="1"/>
          <p:nvPr>
            <p:ph type="body" idx="1"/>
          </p:nvPr>
        </p:nvSpPr>
        <p:spPr>
          <a:xfrm>
            <a:off x="1217711" y="4009348"/>
            <a:ext cx="21948578" cy="8483601"/>
          </a:xfrm>
          <a:prstGeom prst="rect">
            <a:avLst/>
          </a:prstGeom>
        </p:spPr>
        <p:txBody>
          <a:bodyPr/>
          <a:lstStyle/>
          <a:p>
            <a:pPr>
              <a:defRPr>
                <a:latin typeface="Times New Roman"/>
                <a:ea typeface="Times New Roman"/>
                <a:cs typeface="Times New Roman"/>
                <a:sym typeface="Times New Roman"/>
              </a:defRPr>
            </a:pPr>
            <a:r>
              <a:t>Horizontal transfer occurs in </a:t>
            </a:r>
            <a:r>
              <a:rPr i="1"/>
              <a:t>B. burgdorferi </a:t>
            </a:r>
            <a:r>
              <a:t>but the mechanism is unknown</a:t>
            </a:r>
          </a:p>
          <a:p>
            <a:pPr>
              <a:defRPr>
                <a:latin typeface="Times New Roman"/>
                <a:ea typeface="Times New Roman"/>
                <a:cs typeface="Times New Roman"/>
                <a:sym typeface="Times New Roman"/>
              </a:defRPr>
            </a:pPr>
            <a:r>
              <a:t>Phages in general participate in horizontal transfer through transduction and generalized transduction </a:t>
            </a:r>
          </a:p>
          <a:p>
            <a:pPr>
              <a:defRPr>
                <a:latin typeface="Times New Roman"/>
                <a:ea typeface="Times New Roman"/>
                <a:cs typeface="Times New Roman"/>
                <a:sym typeface="Times New Roman"/>
              </a:defRPr>
            </a:pPr>
            <a:r>
              <a:t>ϕBB-1 is known as a general transducer of antibiotic cassettes and transduces its own material as well.</a:t>
            </a:r>
          </a:p>
          <a:p>
            <a:pPr>
              <a:defRPr>
                <a:latin typeface="Times New Roman"/>
                <a:ea typeface="Times New Roman"/>
                <a:cs typeface="Times New Roman"/>
                <a:sym typeface="Times New Roman"/>
              </a:defRPr>
            </a:pPr>
            <a:r>
              <a:t>Homologous recombination of cp32 isoforms has been found among </a:t>
            </a:r>
            <a:r>
              <a:rPr i="1"/>
              <a:t>Borrelia</a:t>
            </a:r>
            <a:r>
              <a:rPr b="1" i="1"/>
              <a:t> </a:t>
            </a:r>
            <a:r>
              <a:t>strains</a:t>
            </a:r>
          </a:p>
          <a:p>
            <a:pPr>
              <a:defRPr>
                <a:latin typeface="Times New Roman"/>
                <a:ea typeface="Times New Roman"/>
                <a:cs typeface="Times New Roman"/>
                <a:sym typeface="Times New Roman"/>
              </a:defRPr>
            </a:pPr>
            <a:r>
              <a:t>There are known transfer mechanisms for phages including the headful packaging mechanism.</a:t>
            </a:r>
          </a:p>
        </p:txBody>
      </p:sp>
      <p:sp>
        <p:nvSpPr>
          <p:cNvPr id="181" name="What is know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a:defRPr b="1">
                <a:latin typeface="Times New Roman"/>
                <a:ea typeface="Times New Roman"/>
                <a:cs typeface="Times New Roman"/>
                <a:sym typeface="Times New Roman"/>
              </a:defRPr>
            </a:lvl1pPr>
          </a:lstStyle>
          <a:p>
            <a:pPr/>
            <a:r>
              <a:t>What is known?</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Hypothesis"/>
          <p:cNvSpPr txBox="1"/>
          <p:nvPr>
            <p:ph type="title"/>
          </p:nvPr>
        </p:nvSpPr>
        <p:spPr>
          <a:prstGeom prst="rect">
            <a:avLst/>
          </a:prstGeom>
        </p:spPr>
        <p:txBody>
          <a:bodyPr/>
          <a:lstStyle>
            <a:lvl1pPr>
              <a:defRPr b="1">
                <a:latin typeface="Times New Roman"/>
                <a:ea typeface="Times New Roman"/>
                <a:cs typeface="Times New Roman"/>
                <a:sym typeface="Times New Roman"/>
              </a:defRPr>
            </a:lvl1pPr>
          </a:lstStyle>
          <a:p>
            <a:pPr/>
            <a:r>
              <a:t>Hypothesis</a:t>
            </a:r>
          </a:p>
        </p:txBody>
      </p:sp>
      <p:sp>
        <p:nvSpPr>
          <p:cNvPr id="184" name="How does Borrelia burgdorferi horizontally transfer genetic material?…"/>
          <p:cNvSpPr txBox="1"/>
          <p:nvPr>
            <p:ph type="body" idx="1"/>
          </p:nvPr>
        </p:nvSpPr>
        <p:spPr>
          <a:prstGeom prst="rect">
            <a:avLst/>
          </a:prstGeom>
        </p:spPr>
        <p:txBody>
          <a:bodyPr/>
          <a:lstStyle/>
          <a:p>
            <a:pPr>
              <a:defRPr>
                <a:latin typeface="Times New Roman"/>
                <a:ea typeface="Times New Roman"/>
                <a:cs typeface="Times New Roman"/>
                <a:sym typeface="Times New Roman"/>
              </a:defRPr>
            </a:pPr>
            <a:r>
              <a:t>How does </a:t>
            </a:r>
            <a:r>
              <a:rPr i="1"/>
              <a:t>Borrelia burgdorferi </a:t>
            </a:r>
            <a:r>
              <a:t>horizontally transfer genetic material?</a:t>
            </a:r>
          </a:p>
          <a:p>
            <a:pPr>
              <a:defRPr>
                <a:latin typeface="Times New Roman"/>
                <a:ea typeface="Times New Roman"/>
                <a:cs typeface="Times New Roman"/>
                <a:sym typeface="Times New Roman"/>
              </a:defRPr>
            </a:pPr>
            <a:r>
              <a:t>Does ϕBB-1 participate in this process?</a:t>
            </a:r>
          </a:p>
          <a:p>
            <a:pPr>
              <a:defRPr>
                <a:latin typeface="Times New Roman"/>
                <a:ea typeface="Times New Roman"/>
                <a:cs typeface="Times New Roman"/>
                <a:sym typeface="Times New Roman"/>
              </a:defRPr>
            </a:pPr>
            <a:r>
              <a:t>If so, what genetic materials are transferred?</a:t>
            </a:r>
          </a:p>
        </p:txBody>
      </p:sp>
      <p:sp>
        <p:nvSpPr>
          <p:cNvPr id="185" name="What will be investigate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a:defRPr b="1">
                <a:latin typeface="Times New Roman"/>
                <a:ea typeface="Times New Roman"/>
                <a:cs typeface="Times New Roman"/>
                <a:sym typeface="Times New Roman"/>
              </a:defRPr>
            </a:lvl1pPr>
          </a:lstStyle>
          <a:p>
            <a:pPr/>
            <a:r>
              <a:t>What will be investigated?</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87" name="pasted-movie.png" descr="pasted-movie.png"/>
          <p:cNvPicPr>
            <a:picLocks noChangeAspect="1"/>
          </p:cNvPicPr>
          <p:nvPr/>
        </p:nvPicPr>
        <p:blipFill>
          <a:blip r:embed="rId2">
            <a:extLst/>
          </a:blip>
          <a:stretch>
            <a:fillRect/>
          </a:stretch>
        </p:blipFill>
        <p:spPr>
          <a:xfrm>
            <a:off x="0" y="3049451"/>
            <a:ext cx="24384000" cy="7617098"/>
          </a:xfrm>
          <a:prstGeom prst="rect">
            <a:avLst/>
          </a:prstGeom>
          <a:ln w="12700">
            <a:miter lim="400000"/>
          </a:ln>
        </p:spPr>
      </p:pic>
      <p:sp>
        <p:nvSpPr>
          <p:cNvPr id="188" name="Fig 1. The B. burgdorferi genome is highly fragmented and is composed of a linear chromosome, linear and circular plasmids, and cp32 prophages.…"/>
          <p:cNvSpPr txBox="1"/>
          <p:nvPr/>
        </p:nvSpPr>
        <p:spPr>
          <a:xfrm>
            <a:off x="562640" y="916075"/>
            <a:ext cx="21488847" cy="14351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lnSpc>
                <a:spcPct val="100000"/>
              </a:lnSpc>
              <a:spcBef>
                <a:spcPts val="0"/>
              </a:spcBef>
              <a:defRPr b="1" sz="2400">
                <a:solidFill>
                  <a:srgbClr val="202020"/>
                </a:solidFill>
                <a:latin typeface="Helvetica"/>
                <a:ea typeface="Helvetica"/>
                <a:cs typeface="Helvetica"/>
                <a:sym typeface="Helvetica"/>
              </a:defRPr>
            </a:pPr>
            <a:r>
              <a:t>Fig 1. The </a:t>
            </a:r>
            <a:r>
              <a:rPr i="1"/>
              <a:t>B</a:t>
            </a:r>
            <a:r>
              <a:t>. </a:t>
            </a:r>
            <a:r>
              <a:rPr i="1"/>
              <a:t>burgdorferi</a:t>
            </a:r>
            <a:r>
              <a:t> genome is highly fragmented and is composed of a linear chromosome, linear and circular plasmids, and cp32 prophages.</a:t>
            </a:r>
            <a:endParaRPr b="0"/>
          </a:p>
          <a:p>
            <a:pPr defTabSz="457200">
              <a:lnSpc>
                <a:spcPct val="100000"/>
              </a:lnSpc>
              <a:spcBef>
                <a:spcPts val="1800"/>
              </a:spcBef>
              <a:defRPr sz="2400">
                <a:solidFill>
                  <a:srgbClr val="202020"/>
                </a:solidFill>
                <a:latin typeface="Helvetica"/>
                <a:ea typeface="Helvetica"/>
                <a:cs typeface="Helvetica"/>
                <a:sym typeface="Helvetica"/>
              </a:defRPr>
            </a:pPr>
            <a:r>
              <a:t>The genomes of </a:t>
            </a:r>
            <a:r>
              <a:rPr i="1"/>
              <a:t>B</a:t>
            </a:r>
            <a:r>
              <a:t>. </a:t>
            </a:r>
            <a:r>
              <a:rPr i="1"/>
              <a:t>burgdorferi</a:t>
            </a:r>
            <a:r>
              <a:t> strains </a:t>
            </a:r>
            <a:r>
              <a:rPr b="1"/>
              <a:t>(A)</a:t>
            </a:r>
            <a:r>
              <a:t> B31 and </a:t>
            </a:r>
            <a:r>
              <a:rPr b="1"/>
              <a:t>(B)</a:t>
            </a:r>
            <a:r>
              <a:t> CA-11.2A are shown. </a:t>
            </a:r>
            <a:r>
              <a:rPr b="1"/>
              <a:t>(C)</a:t>
            </a:r>
            <a:r>
              <a:t> The temperate ϕBB-1 phage lifecycle is depicted.</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0" name="pasted-movie.png" descr="pasted-movie.png"/>
          <p:cNvPicPr>
            <a:picLocks noChangeAspect="1"/>
          </p:cNvPicPr>
          <p:nvPr/>
        </p:nvPicPr>
        <p:blipFill>
          <a:blip r:embed="rId2">
            <a:extLst/>
          </a:blip>
          <a:stretch>
            <a:fillRect/>
          </a:stretch>
        </p:blipFill>
        <p:spPr>
          <a:xfrm>
            <a:off x="7583728" y="2286408"/>
            <a:ext cx="16621436" cy="9751244"/>
          </a:xfrm>
          <a:prstGeom prst="rect">
            <a:avLst/>
          </a:prstGeom>
          <a:ln w="12700">
            <a:miter lim="400000"/>
          </a:ln>
        </p:spPr>
      </p:pic>
      <p:sp>
        <p:nvSpPr>
          <p:cNvPr id="191" name="Ethanol to induce…"/>
          <p:cNvSpPr txBox="1"/>
          <p:nvPr/>
        </p:nvSpPr>
        <p:spPr>
          <a:xfrm>
            <a:off x="167683" y="196320"/>
            <a:ext cx="7339780" cy="1138936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546100" indent="-546100">
              <a:buSzPct val="150000"/>
              <a:buChar char="•"/>
              <a:defRPr>
                <a:latin typeface="Helvetica"/>
                <a:ea typeface="Helvetica"/>
                <a:cs typeface="Helvetica"/>
                <a:sym typeface="Helvetica"/>
              </a:defRPr>
            </a:pPr>
            <a:r>
              <a:t>Ethanol to induce</a:t>
            </a:r>
          </a:p>
          <a:p>
            <a:pPr marL="546100" indent="-546100">
              <a:buSzPct val="150000"/>
              <a:buChar char="•"/>
              <a:defRPr>
                <a:latin typeface="Helvetica"/>
                <a:ea typeface="Helvetica"/>
                <a:cs typeface="Helvetica"/>
                <a:sym typeface="Helvetica"/>
              </a:defRPr>
            </a:pPr>
            <a:r>
              <a:t>Bacteria removed through spinning</a:t>
            </a:r>
          </a:p>
          <a:p>
            <a:pPr marL="546100" indent="-546100">
              <a:buSzPct val="150000"/>
              <a:buChar char="•"/>
              <a:defRPr>
                <a:latin typeface="Helvetica"/>
                <a:ea typeface="Helvetica"/>
                <a:cs typeface="Helvetica"/>
                <a:sym typeface="Helvetica"/>
              </a:defRPr>
            </a:pPr>
            <a:r>
              <a:t>Virion purified by chloroform and ammonium sulfate</a:t>
            </a:r>
          </a:p>
          <a:p>
            <a:pPr marL="546100" indent="-546100">
              <a:buSzPct val="150000"/>
              <a:buChar char="•"/>
              <a:defRPr>
                <a:latin typeface="Helvetica"/>
                <a:ea typeface="Helvetica"/>
                <a:cs typeface="Helvetica"/>
                <a:sym typeface="Helvetica"/>
              </a:defRPr>
            </a:pPr>
            <a:r>
              <a:t>Dnase to remove anything not in a capsid</a:t>
            </a:r>
          </a:p>
          <a:p>
            <a:pPr marL="546100" indent="-546100">
              <a:buSzPct val="150000"/>
              <a:buChar char="•"/>
              <a:defRPr>
                <a:latin typeface="Helvetica"/>
                <a:ea typeface="Helvetica"/>
                <a:cs typeface="Helvetica"/>
                <a:sym typeface="Helvetica"/>
              </a:defRPr>
            </a:pPr>
            <a:r>
              <a:t>TEM to visualize</a:t>
            </a:r>
          </a:p>
          <a:p>
            <a:pPr marL="546100" indent="-546100">
              <a:buSzPct val="150000"/>
              <a:buChar char="•"/>
              <a:defRPr>
                <a:latin typeface="Helvetica"/>
                <a:ea typeface="Helvetica"/>
                <a:cs typeface="Helvetica"/>
                <a:sym typeface="Helvetica"/>
              </a:defRPr>
            </a:pPr>
            <a:r>
              <a:t>Mass spec for proteomics</a:t>
            </a:r>
          </a:p>
          <a:p>
            <a:pPr marL="546100" indent="-546100">
              <a:buSzPct val="150000"/>
              <a:buChar char="•"/>
              <a:defRPr>
                <a:latin typeface="Helvetica"/>
                <a:ea typeface="Helvetica"/>
                <a:cs typeface="Helvetica"/>
                <a:sym typeface="Helvetica"/>
              </a:defRPr>
            </a:pPr>
            <a:r>
              <a:t>qPCR to measure cp32 copies</a:t>
            </a:r>
          </a:p>
          <a:p>
            <a:pPr marL="546100" indent="-546100">
              <a:buSzPct val="150000"/>
              <a:buChar char="•"/>
              <a:defRPr>
                <a:latin typeface="Helvetica"/>
                <a:ea typeface="Helvetica"/>
                <a:cs typeface="Helvetica"/>
                <a:sym typeface="Helvetica"/>
              </a:defRPr>
            </a:pPr>
            <a:r>
              <a:t>Highest abundance proteins include OspC, OspA, and GroEL</a:t>
            </a:r>
          </a:p>
        </p:txBody>
      </p:sp>
      <p:sp>
        <p:nvSpPr>
          <p:cNvPr id="192" name="(A) Packaged, DNase-protected cp32 copy numbers in bacterial supernatants were measured by qPCR. Data are the SE of the mean of three experiments, ***p &lt;0.001. (B) Virions were purified from 4-L cultures of B. burgdorferi CA-11.2A and imaged by transmiss"/>
          <p:cNvSpPr txBox="1"/>
          <p:nvPr/>
        </p:nvSpPr>
        <p:spPr>
          <a:xfrm>
            <a:off x="8076410" y="12083347"/>
            <a:ext cx="15166820" cy="711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0"/>
              </a:spcBef>
              <a:defRPr sz="1300">
                <a:solidFill>
                  <a:srgbClr val="202020"/>
                </a:solidFill>
                <a:latin typeface="Helvetica"/>
                <a:ea typeface="Helvetica"/>
                <a:cs typeface="Helvetica"/>
                <a:sym typeface="Helvetica"/>
              </a:defRPr>
            </a:pPr>
            <a:r>
              <a:rPr b="1"/>
              <a:t>(A)</a:t>
            </a:r>
            <a:r>
              <a:t> Packaged, DNase-protected cp32 copy numbers in bacterial supernatants were measured by qPCR. Data are the SE of the mean of three experiments, ***</a:t>
            </a:r>
            <a:r>
              <a:rPr i="1"/>
              <a:t>p</a:t>
            </a:r>
            <a:r>
              <a:t> &lt;0.001. </a:t>
            </a:r>
            <a:r>
              <a:rPr b="1"/>
              <a:t>(B)</a:t>
            </a:r>
            <a:r>
              <a:t> Virions were purified from 4-L cultures of </a:t>
            </a:r>
            <a:r>
              <a:rPr i="1"/>
              <a:t>B</a:t>
            </a:r>
            <a:r>
              <a:t>. </a:t>
            </a:r>
            <a:r>
              <a:rPr i="1"/>
              <a:t>burgdorferi</a:t>
            </a:r>
            <a:r>
              <a:t> CA-11.2A and imaged by transmission electron microscopy. Representative images from two independent preparations are shown. </a:t>
            </a:r>
            <a:r>
              <a:rPr b="1"/>
              <a:t>(C and D)</a:t>
            </a:r>
            <a:r>
              <a:t> HPLC-MS/MS-based proteomics was used to identify proteins in two purified virion preparations. The SE of the mean of spectral counts for peptides associated with the indicated phage structural proteins are shown for each replicate.</a:t>
            </a:r>
          </a:p>
        </p:txBody>
      </p:sp>
      <p:sp>
        <p:nvSpPr>
          <p:cNvPr id="193" name="Fig 2. ɸBB-1 phage titer, virion morphology, and proteomic analysis."/>
          <p:cNvSpPr txBox="1"/>
          <p:nvPr/>
        </p:nvSpPr>
        <p:spPr>
          <a:xfrm>
            <a:off x="8711128" y="922425"/>
            <a:ext cx="13897386" cy="1422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defTabSz="457200">
              <a:lnSpc>
                <a:spcPct val="100000"/>
              </a:lnSpc>
              <a:spcBef>
                <a:spcPts val="0"/>
              </a:spcBef>
              <a:defRPr b="1" sz="4300">
                <a:solidFill>
                  <a:srgbClr val="202020"/>
                </a:solidFill>
                <a:latin typeface="Helvetica"/>
                <a:ea typeface="Helvetica"/>
                <a:cs typeface="Helvetica"/>
                <a:sym typeface="Helvetica"/>
              </a:defRPr>
            </a:lvl1pPr>
          </a:lstStyle>
          <a:p>
            <a:pPr/>
            <a:r>
              <a:t>Fig 2. ɸBB-1 phage titer, virion morphology, and proteomic analysis.</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5" name="pasted-movie.png" descr="pasted-movie.png"/>
          <p:cNvPicPr>
            <a:picLocks noChangeAspect="1"/>
          </p:cNvPicPr>
          <p:nvPr/>
        </p:nvPicPr>
        <p:blipFill>
          <a:blip r:embed="rId2">
            <a:extLst/>
          </a:blip>
          <a:stretch>
            <a:fillRect/>
          </a:stretch>
        </p:blipFill>
        <p:spPr>
          <a:xfrm>
            <a:off x="328831" y="1564160"/>
            <a:ext cx="23363246" cy="11614872"/>
          </a:xfrm>
          <a:prstGeom prst="rect">
            <a:avLst/>
          </a:prstGeom>
          <a:ln w="12700">
            <a:miter lim="400000"/>
          </a:ln>
        </p:spPr>
      </p:pic>
      <p:sp>
        <p:nvSpPr>
          <p:cNvPr id="196" name="Fig 3. Workflow for sequencing packaged ɸBB-1 DNA."/>
          <p:cNvSpPr txBox="1"/>
          <p:nvPr/>
        </p:nvSpPr>
        <p:spPr>
          <a:xfrm>
            <a:off x="5492200" y="310583"/>
            <a:ext cx="14231368"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defTabSz="2438400">
              <a:lnSpc>
                <a:spcPct val="80000"/>
              </a:lnSpc>
              <a:spcBef>
                <a:spcPts val="0"/>
              </a:spcBef>
              <a:defRPr b="1" spc="-44">
                <a:latin typeface="Helvetica"/>
                <a:ea typeface="Helvetica"/>
                <a:cs typeface="Helvetica"/>
                <a:sym typeface="Helvetica"/>
              </a:defRPr>
            </a:lvl1pPr>
          </a:lstStyle>
          <a:p>
            <a:pPr/>
            <a:r>
              <a:t>Fig 3. Workflow for sequencing packaged ɸBB-1 DNA.</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8" name="pasted-movie.png" descr="pasted-movie.png"/>
          <p:cNvPicPr>
            <a:picLocks noChangeAspect="1"/>
          </p:cNvPicPr>
          <p:nvPr/>
        </p:nvPicPr>
        <p:blipFill>
          <a:blip r:embed="rId2">
            <a:extLst/>
          </a:blip>
          <a:stretch>
            <a:fillRect/>
          </a:stretch>
        </p:blipFill>
        <p:spPr>
          <a:xfrm>
            <a:off x="4647364" y="3536129"/>
            <a:ext cx="19622867" cy="6643742"/>
          </a:xfrm>
          <a:prstGeom prst="rect">
            <a:avLst/>
          </a:prstGeom>
          <a:ln w="12700">
            <a:miter lim="400000"/>
          </a:ln>
        </p:spPr>
      </p:pic>
      <p:sp>
        <p:nvSpPr>
          <p:cNvPr id="199" name="A) The salmon sperm DNA used to spike purified phages prior to DNase treatment was run on an agarose gel to estimate its size. Note that the majority of salmon DNA is larger than the 20-kb high molecular weight marker in the left lane. (B) 0.14% of 110,9"/>
          <p:cNvSpPr txBox="1"/>
          <p:nvPr/>
        </p:nvSpPr>
        <p:spPr>
          <a:xfrm>
            <a:off x="8856004" y="10944261"/>
            <a:ext cx="14886824" cy="11176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0"/>
              </a:spcBef>
              <a:defRPr sz="1300">
                <a:solidFill>
                  <a:srgbClr val="202020"/>
                </a:solidFill>
                <a:latin typeface="Helvetica"/>
                <a:ea typeface="Helvetica"/>
                <a:cs typeface="Helvetica"/>
                <a:sym typeface="Helvetica"/>
              </a:defRPr>
            </a:pPr>
            <a:r>
              <a:rPr b="1"/>
              <a:t>A)</a:t>
            </a:r>
            <a:r>
              <a:t> The salmon sperm DNA used to spike purified phages prior to DNase treatment was run on an agarose gel to estimate its size. Note that the majority of salmon DNA is larger than the 20-kb high molecular weight marker in the left lane. </a:t>
            </a:r>
            <a:r>
              <a:rPr b="1"/>
              <a:t>(B)</a:t>
            </a:r>
            <a:r>
              <a:t> 0.14% of 110,986 reads &gt; 700 bp, 0.14% were classified as matching salmon sequences. Reads classified as salmon were plotted as a function of their length for each replicate. Error bars represent the SE of the mean of three replicate experiments. All reads except one (arrow) were below 5 kb in length (dashed line) with an average length of 1.2 kb. </a:t>
            </a:r>
            <a:r>
              <a:rPr b="1"/>
              <a:t>(C)</a:t>
            </a:r>
            <a:r>
              <a:t> Read length cutoff was plotted as a function of the number of reads remaining in each replicate dataset. In total, 58,399 reads remain after establishing a 5-kb cutoff. </a:t>
            </a:r>
            <a:r>
              <a:rPr b="1"/>
              <a:t>(D)</a:t>
            </a:r>
            <a:r>
              <a:t> Read length for all reads &gt;5 kb in each replicate was plotted. </a:t>
            </a:r>
          </a:p>
        </p:txBody>
      </p:sp>
      <p:sp>
        <p:nvSpPr>
          <p:cNvPr id="200" name="Fig 4. Establishing a 5kb read length cutoff to exclude unpackaged reads."/>
          <p:cNvSpPr txBox="1"/>
          <p:nvPr/>
        </p:nvSpPr>
        <p:spPr>
          <a:xfrm>
            <a:off x="4839979" y="623998"/>
            <a:ext cx="19237638" cy="774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defTabSz="2438400">
              <a:lnSpc>
                <a:spcPct val="80000"/>
              </a:lnSpc>
              <a:spcBef>
                <a:spcPts val="0"/>
              </a:spcBef>
              <a:defRPr b="1" spc="-44">
                <a:latin typeface="Helvetica"/>
                <a:ea typeface="Helvetica"/>
                <a:cs typeface="Helvetica"/>
                <a:sym typeface="Helvetica"/>
              </a:defRPr>
            </a:lvl1pPr>
          </a:lstStyle>
          <a:p>
            <a:pPr/>
            <a:r>
              <a:t>Fig 4. Establishing a 5kb read length cutoff to exclude unpackaged reads.</a:t>
            </a:r>
          </a:p>
        </p:txBody>
      </p:sp>
      <p:sp>
        <p:nvSpPr>
          <p:cNvPr id="201" name="20 kb Salmon sperm DNA…"/>
          <p:cNvSpPr txBox="1"/>
          <p:nvPr/>
        </p:nvSpPr>
        <p:spPr>
          <a:xfrm>
            <a:off x="59638" y="693419"/>
            <a:ext cx="4620579" cy="1232916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546100" indent="-546100">
              <a:buSzPct val="150000"/>
              <a:buChar char="•"/>
              <a:defRPr sz="4100">
                <a:latin typeface="Helvetica"/>
                <a:ea typeface="Helvetica"/>
                <a:cs typeface="Helvetica"/>
                <a:sym typeface="Helvetica"/>
              </a:defRPr>
            </a:pPr>
            <a:r>
              <a:t>20 kb Salmon sperm DNA</a:t>
            </a:r>
          </a:p>
          <a:p>
            <a:pPr marL="546100" indent="-546100">
              <a:buSzPct val="150000"/>
              <a:buChar char="•"/>
              <a:defRPr sz="4100">
                <a:latin typeface="Helvetica"/>
                <a:ea typeface="Helvetica"/>
                <a:cs typeface="Helvetica"/>
                <a:sym typeface="Helvetica"/>
              </a:defRPr>
            </a:pPr>
            <a:r>
              <a:t>1.7 ug/mL = 3*10^8 Bacterial</a:t>
            </a:r>
            <a:br/>
            <a:r>
              <a:t>cells lysed in 1 mL media</a:t>
            </a:r>
          </a:p>
          <a:p>
            <a:pPr marL="546100" indent="-546100">
              <a:buSzPct val="150000"/>
              <a:buChar char="•"/>
              <a:defRPr sz="4100">
                <a:latin typeface="Helvetica"/>
                <a:ea typeface="Helvetica"/>
                <a:cs typeface="Helvetica"/>
                <a:sym typeface="Helvetica"/>
              </a:defRPr>
            </a:pPr>
            <a:r>
              <a:t>DNase incubation</a:t>
            </a:r>
          </a:p>
          <a:p>
            <a:pPr marL="546100" indent="-546100">
              <a:buSzPct val="150000"/>
              <a:buChar char="•"/>
              <a:defRPr sz="4100">
                <a:latin typeface="Helvetica"/>
                <a:ea typeface="Helvetica"/>
                <a:cs typeface="Helvetica"/>
                <a:sym typeface="Helvetica"/>
              </a:defRPr>
            </a:pPr>
            <a:r>
              <a:t>DNA extracted afterwards using</a:t>
            </a:r>
            <a:br/>
            <a:r>
              <a:t>proteinase K/SDS/-phenol chloroform</a:t>
            </a:r>
          </a:p>
          <a:p>
            <a:pPr marL="546100" indent="-546100">
              <a:buSzPct val="150000"/>
              <a:buChar char="•"/>
              <a:defRPr sz="4100">
                <a:latin typeface="Helvetica"/>
                <a:ea typeface="Helvetica"/>
                <a:cs typeface="Helvetica"/>
                <a:sym typeface="Helvetica"/>
              </a:defRPr>
            </a:pPr>
            <a:r>
              <a:t>Read on Nanopore MinION</a:t>
            </a:r>
          </a:p>
          <a:p>
            <a:pPr marL="546100" indent="-546100">
              <a:buSzPct val="150000"/>
              <a:buChar char="•"/>
              <a:defRPr sz="4100">
                <a:latin typeface="Helvetica"/>
                <a:ea typeface="Helvetica"/>
                <a:cs typeface="Helvetica"/>
                <a:sym typeface="Helvetica"/>
              </a:defRPr>
            </a:pPr>
            <a:r>
              <a:t>0.14% matched Salmon DNA sequence</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3" name="pasted-movie.png" descr="pasted-movie.png"/>
          <p:cNvPicPr>
            <a:picLocks noChangeAspect="1"/>
          </p:cNvPicPr>
          <p:nvPr/>
        </p:nvPicPr>
        <p:blipFill>
          <a:blip r:embed="rId2">
            <a:extLst/>
          </a:blip>
          <a:stretch>
            <a:fillRect/>
          </a:stretch>
        </p:blipFill>
        <p:spPr>
          <a:xfrm>
            <a:off x="435337" y="1472700"/>
            <a:ext cx="21515894" cy="11311214"/>
          </a:xfrm>
          <a:prstGeom prst="rect">
            <a:avLst/>
          </a:prstGeom>
          <a:ln w="12700">
            <a:miter lim="400000"/>
          </a:ln>
        </p:spPr>
      </p:pic>
      <p:sp>
        <p:nvSpPr>
          <p:cNvPr id="204" name="(A) Kraken and BLAST were used to determine the taxonomic affiliation of reads &gt;5kb. Note that no eukaryotic reads were identified. (B and C) The (B) percent and (C) mean coverage for reads affiliated with the indicated B. burgdorferi plasmid or linear c"/>
          <p:cNvSpPr txBox="1"/>
          <p:nvPr/>
        </p:nvSpPr>
        <p:spPr>
          <a:xfrm>
            <a:off x="57479" y="13265136"/>
            <a:ext cx="24269043" cy="508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lnSpc>
                <a:spcPct val="100000"/>
              </a:lnSpc>
              <a:spcBef>
                <a:spcPts val="0"/>
              </a:spcBef>
              <a:defRPr sz="1300">
                <a:solidFill>
                  <a:srgbClr val="202020"/>
                </a:solidFill>
                <a:latin typeface="Helvetica"/>
                <a:ea typeface="Helvetica"/>
                <a:cs typeface="Helvetica"/>
                <a:sym typeface="Helvetica"/>
              </a:defRPr>
            </a:pPr>
            <a:r>
              <a:rPr b="1"/>
              <a:t>(A)</a:t>
            </a:r>
            <a:r>
              <a:t> Kraken and BLAST were used to determine the taxonomic affiliation of reads &gt;5kb. Note that no eukaryotic reads were identified. </a:t>
            </a:r>
            <a:r>
              <a:rPr b="1"/>
              <a:t>(B and C)</a:t>
            </a:r>
            <a:r>
              <a:t> The (B) percent and (C) mean coverage for reads affiliated with the indicated </a:t>
            </a:r>
            <a:r>
              <a:rPr i="1"/>
              <a:t>B</a:t>
            </a:r>
            <a:r>
              <a:t>. </a:t>
            </a:r>
            <a:r>
              <a:rPr i="1"/>
              <a:t>burgdorferi</a:t>
            </a:r>
            <a:r>
              <a:t> plasmid or linear chromosome are shown for each replicate. Error bars represent the SE of the mean. </a:t>
            </a:r>
            <a:r>
              <a:rPr b="1"/>
              <a:t>(D)</a:t>
            </a:r>
            <a:r>
              <a:t> Read length distributions for the indicated plasmids or chromosome are shown.</a:t>
            </a:r>
          </a:p>
        </p:txBody>
      </p:sp>
      <p:sp>
        <p:nvSpPr>
          <p:cNvPr id="205" name="Fig 5. ɸBB-1 virions package cp32 isoforms, chromosome fragments, lp54, and other plasmid DNA."/>
          <p:cNvSpPr txBox="1"/>
          <p:nvPr/>
        </p:nvSpPr>
        <p:spPr>
          <a:xfrm>
            <a:off x="3055966" y="343787"/>
            <a:ext cx="19649880" cy="64769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defTabSz="825500">
              <a:lnSpc>
                <a:spcPct val="100000"/>
              </a:lnSpc>
              <a:spcBef>
                <a:spcPts val="0"/>
              </a:spcBef>
              <a:defRPr spc="-33" sz="3300">
                <a:latin typeface="Graphik Semibold"/>
                <a:ea typeface="Graphik Semibold"/>
                <a:cs typeface="Graphik Semibold"/>
                <a:sym typeface="Graphik Semibold"/>
              </a:defRPr>
            </a:lvl1pPr>
          </a:lstStyle>
          <a:p>
            <a:pPr/>
            <a:r>
              <a:t>Fig 5. ɸBB-1 virions package cp32 isoforms, chromosome fragments, lp54, and other plasmid DNA.</a:t>
            </a:r>
          </a:p>
        </p:txBody>
      </p:sp>
      <p:sp>
        <p:nvSpPr>
          <p:cNvPr id="206" name="79% - cp32 isoforms…"/>
          <p:cNvSpPr txBox="1"/>
          <p:nvPr/>
        </p:nvSpPr>
        <p:spPr>
          <a:xfrm>
            <a:off x="20317116" y="7175020"/>
            <a:ext cx="2972957" cy="17424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sz="2400">
                <a:latin typeface="Helvetica"/>
                <a:ea typeface="Helvetica"/>
                <a:cs typeface="Helvetica"/>
                <a:sym typeface="Helvetica"/>
              </a:defRPr>
            </a:pPr>
            <a:r>
              <a:t>79% - cp32 isoforms</a:t>
            </a:r>
          </a:p>
          <a:p>
            <a:pPr>
              <a:defRPr sz="2400">
                <a:latin typeface="Helvetica"/>
                <a:ea typeface="Helvetica"/>
                <a:cs typeface="Helvetica"/>
                <a:sym typeface="Helvetica"/>
              </a:defRPr>
            </a:pPr>
            <a:r>
              <a:t>11.6%- chromosomal</a:t>
            </a:r>
          </a:p>
          <a:p>
            <a:pPr>
              <a:defRPr sz="2400">
                <a:latin typeface="Helvetica"/>
                <a:ea typeface="Helvetica"/>
                <a:cs typeface="Helvetica"/>
                <a:sym typeface="Helvetica"/>
              </a:defRPr>
            </a:pPr>
            <a:r>
              <a:t>6.3%- lp54</a:t>
            </a:r>
          </a:p>
        </p:txBody>
      </p:sp>
      <p:sp>
        <p:nvSpPr>
          <p:cNvPr id="207" name="Average length of packaged read for chromosome and other low frequency plasmids are 8kb"/>
          <p:cNvSpPr txBox="1"/>
          <p:nvPr/>
        </p:nvSpPr>
        <p:spPr>
          <a:xfrm>
            <a:off x="12335631" y="12601211"/>
            <a:ext cx="8436512" cy="65659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sz="1900">
                <a:latin typeface="Helvetica"/>
                <a:ea typeface="Helvetica"/>
                <a:cs typeface="Helvetica"/>
                <a:sym typeface="Helvetica"/>
              </a:defRPr>
            </a:lvl1pPr>
          </a:lstStyle>
          <a:p>
            <a:pPr/>
            <a:r>
              <a:t>Average length of packaged read for chromosome and other low frequency plasmids are 8kb</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9" name="pasted-movie.png" descr="pasted-movie.png"/>
          <p:cNvPicPr>
            <a:picLocks noChangeAspect="1"/>
          </p:cNvPicPr>
          <p:nvPr/>
        </p:nvPicPr>
        <p:blipFill>
          <a:blip r:embed="rId2">
            <a:extLst/>
          </a:blip>
          <a:stretch>
            <a:fillRect/>
          </a:stretch>
        </p:blipFill>
        <p:spPr>
          <a:xfrm>
            <a:off x="12924498" y="217536"/>
            <a:ext cx="11392953" cy="13280928"/>
          </a:xfrm>
          <a:prstGeom prst="rect">
            <a:avLst/>
          </a:prstGeom>
          <a:ln w="12700">
            <a:miter lim="400000"/>
          </a:ln>
        </p:spPr>
      </p:pic>
      <p:sp>
        <p:nvSpPr>
          <p:cNvPr id="210" name="(A) PhageTerm was used to predict the linear ends of packaged cp32 molecules. (B–F) Nanopore reads were mapped to the indicated cp32s. Note the sharp boundary just upstream of the erp loci (highlighted in red). The yellow triangles indicate the PhageTerm"/>
          <p:cNvSpPr txBox="1"/>
          <p:nvPr/>
        </p:nvSpPr>
        <p:spPr>
          <a:xfrm>
            <a:off x="8068402" y="12106774"/>
            <a:ext cx="8247196" cy="1524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0"/>
              </a:spcBef>
              <a:defRPr sz="1300">
                <a:solidFill>
                  <a:srgbClr val="202020"/>
                </a:solidFill>
                <a:latin typeface="Helvetica"/>
                <a:ea typeface="Helvetica"/>
                <a:cs typeface="Helvetica"/>
                <a:sym typeface="Helvetica"/>
              </a:defRPr>
            </a:pPr>
            <a:r>
              <a:rPr b="1"/>
              <a:t>(A)</a:t>
            </a:r>
            <a:r>
              <a:t> PhageTerm was used to predict the linear ends of packaged cp32 molecules. </a:t>
            </a:r>
            <a:r>
              <a:rPr b="1"/>
              <a:t>(B–F)</a:t>
            </a:r>
            <a:r>
              <a:t> Nanopore reads were mapped to the indicated cp32s. Note the sharp boundary just upstream of the </a:t>
            </a:r>
            <a:r>
              <a:rPr i="1"/>
              <a:t>erp</a:t>
            </a:r>
            <a:r>
              <a:t> loci (highlighted in red). The yellow triangles indicate the PhageTerm predicted linear ends. </a:t>
            </a:r>
            <a:r>
              <a:rPr b="1"/>
              <a:t>(G)</a:t>
            </a:r>
            <a:r>
              <a:t> Alignments of the intergenic region upstream of the </a:t>
            </a:r>
            <a:r>
              <a:rPr i="1"/>
              <a:t>erp</a:t>
            </a:r>
            <a:r>
              <a:t> loci is shown for each cp32. Colors indicating A, T, C, or G are shown in panel H. The black line indicates the </a:t>
            </a:r>
            <a:r>
              <a:rPr i="1"/>
              <a:t>pac</a:t>
            </a:r>
            <a:r>
              <a:t> region that was cloned into a shuttle vector, as described in </a:t>
            </a:r>
            <a:r>
              <a:rPr>
                <a:solidFill>
                  <a:srgbClr val="303030"/>
                </a:solidFill>
                <a:hlinkClick r:id="rId3" invalidUrl="" action="" tgtFrame="" tooltip="" history="1" highlightClick="0" endSnd="0"/>
              </a:rPr>
              <a:t>Fig 7</a:t>
            </a:r>
            <a:r>
              <a:t>. </a:t>
            </a:r>
            <a:r>
              <a:rPr b="1"/>
              <a:t>(H)</a:t>
            </a:r>
            <a:r>
              <a:t> A nucleic acid logo was constructed from 207 cp32 sequence alignments. Yellow triangles indicate the linear end of cp32 isoforms as predicted by PhageTerm and confirmed by long-read sequencing. </a:t>
            </a:r>
          </a:p>
        </p:txBody>
      </p:sp>
      <p:sp>
        <p:nvSpPr>
          <p:cNvPr id="211" name="Fig 6. cp32s are linearized upstream of the erp loci."/>
          <p:cNvSpPr txBox="1"/>
          <p:nvPr/>
        </p:nvSpPr>
        <p:spPr>
          <a:xfrm>
            <a:off x="-44821" y="422932"/>
            <a:ext cx="11969455" cy="15692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defTabSz="825500">
              <a:lnSpc>
                <a:spcPct val="100000"/>
              </a:lnSpc>
              <a:spcBef>
                <a:spcPts val="0"/>
              </a:spcBef>
              <a:defRPr spc="-44">
                <a:latin typeface="Graphik Semibold"/>
                <a:ea typeface="Graphik Semibold"/>
                <a:cs typeface="Graphik Semibold"/>
                <a:sym typeface="Graphik Semibold"/>
              </a:defRPr>
            </a:pPr>
            <a:r>
              <a:t>Fig 6. cp32s are linearized upstream of the </a:t>
            </a:r>
            <a:r>
              <a:rPr b="1" i="1">
                <a:latin typeface="Graphik"/>
                <a:ea typeface="Graphik"/>
                <a:cs typeface="Graphik"/>
                <a:sym typeface="Graphik"/>
              </a:rPr>
              <a:t>erp</a:t>
            </a:r>
            <a:r>
              <a:t> loci.</a:t>
            </a:r>
          </a:p>
        </p:txBody>
      </p:sp>
      <p:sp>
        <p:nvSpPr>
          <p:cNvPr id="212" name="DNA isolated from ϕBB-1 is thought to be linearized…"/>
          <p:cNvSpPr txBox="1"/>
          <p:nvPr/>
        </p:nvSpPr>
        <p:spPr>
          <a:xfrm>
            <a:off x="80318" y="3421929"/>
            <a:ext cx="11719178" cy="44132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546100" indent="-546100">
              <a:buSzPct val="150000"/>
              <a:buChar char="•"/>
              <a:defRPr>
                <a:latin typeface="Helvetica"/>
                <a:ea typeface="Helvetica"/>
                <a:cs typeface="Helvetica"/>
                <a:sym typeface="Helvetica"/>
              </a:defRPr>
            </a:pPr>
            <a:r>
              <a:t>DNA isolated from ϕBB-1 is thought to be linearized</a:t>
            </a:r>
          </a:p>
          <a:p>
            <a:pPr marL="546100" indent="-546100">
              <a:buSzPct val="150000"/>
              <a:buChar char="•"/>
              <a:defRPr>
                <a:latin typeface="Helvetica"/>
                <a:ea typeface="Helvetica"/>
                <a:cs typeface="Helvetica"/>
                <a:sym typeface="Helvetica"/>
              </a:defRPr>
            </a:pPr>
            <a:r>
              <a:t>PhageTerm used to predict the linear ends of packaged cp32s.</a:t>
            </a:r>
          </a:p>
          <a:p>
            <a:pPr marL="546100" indent="-546100">
              <a:buSzPct val="150000"/>
              <a:buChar char="•"/>
              <a:defRPr>
                <a:latin typeface="Helvetica"/>
                <a:ea typeface="Helvetica"/>
                <a:cs typeface="Helvetica"/>
                <a:sym typeface="Helvetica"/>
              </a:defRPr>
            </a:pPr>
            <a:r>
              <a:t>Physical end upstream of the </a:t>
            </a:r>
            <a:r>
              <a:rPr i="1"/>
              <a:t>erp </a:t>
            </a:r>
            <a:r>
              <a:t>loci across all isoforms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4" name="pasted-movie.png" descr="pasted-movie.png"/>
          <p:cNvPicPr>
            <a:picLocks noChangeAspect="1"/>
          </p:cNvPicPr>
          <p:nvPr/>
        </p:nvPicPr>
        <p:blipFill>
          <a:blip r:embed="rId2">
            <a:extLst/>
          </a:blip>
          <a:stretch>
            <a:fillRect/>
          </a:stretch>
        </p:blipFill>
        <p:spPr>
          <a:xfrm>
            <a:off x="7822007" y="2668542"/>
            <a:ext cx="16327813" cy="8561071"/>
          </a:xfrm>
          <a:prstGeom prst="rect">
            <a:avLst/>
          </a:prstGeom>
          <a:ln w="12700">
            <a:miter lim="400000"/>
          </a:ln>
        </p:spPr>
      </p:pic>
      <p:sp>
        <p:nvSpPr>
          <p:cNvPr id="215" name="(A) Schematic depicting the headful genome packaging mechanism. (B) After ethanol induction, ϕBB-1 virions were collected from CA-11.2A cells not carrying plasmid pBSV2 (No vector), cells transformed with empty pBSV2, or cells transformed with pBSV2 with"/>
          <p:cNvSpPr txBox="1"/>
          <p:nvPr/>
        </p:nvSpPr>
        <p:spPr>
          <a:xfrm>
            <a:off x="12567369" y="12050127"/>
            <a:ext cx="7601647" cy="112388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0"/>
              </a:spcBef>
              <a:defRPr sz="1300">
                <a:solidFill>
                  <a:srgbClr val="202020"/>
                </a:solidFill>
                <a:latin typeface="Helvetica"/>
                <a:ea typeface="Helvetica"/>
                <a:cs typeface="Helvetica"/>
                <a:sym typeface="Helvetica"/>
              </a:defRPr>
            </a:pPr>
            <a:r>
              <a:rPr b="1"/>
              <a:t>(A)</a:t>
            </a:r>
            <a:r>
              <a:t> Schematic depicting the headful genome packaging mechanism. </a:t>
            </a:r>
            <a:r>
              <a:rPr b="1"/>
              <a:t>(B)</a:t>
            </a:r>
            <a:r>
              <a:t> After ethanol induction, ϕBB-1 virions were collected from CA-11.2A cells not carrying plasmid pBSV2 (No vector), cells transformed with empty pBSV2, or cells transformed with pBSV2 with the cp32-3 </a:t>
            </a:r>
            <a:r>
              <a:rPr i="1"/>
              <a:t>pac</a:t>
            </a:r>
            <a:r>
              <a:t> site (see </a:t>
            </a:r>
            <a:r>
              <a:rPr>
                <a:solidFill>
                  <a:srgbClr val="303030"/>
                </a:solidFill>
                <a:hlinkClick r:id="rId3" invalidUrl="" action="" tgtFrame="" tooltip="" history="1" highlightClick="0" endSnd="0"/>
              </a:rPr>
              <a:t>Fig 6G</a:t>
            </a:r>
            <a:r>
              <a:t> for the cloned </a:t>
            </a:r>
            <a:r>
              <a:rPr i="1"/>
              <a:t>pac</a:t>
            </a:r>
            <a:r>
              <a:t> region). Copy numbers of pBSV2 packaged into ϕBB-1 virions were measured by qPCR. Data are the SE of the mean of three experiments, ***</a:t>
            </a:r>
            <a:r>
              <a:rPr i="1"/>
              <a:t>p</a:t>
            </a:r>
            <a:r>
              <a:t>&lt;0.001. </a:t>
            </a:r>
          </a:p>
        </p:txBody>
      </p:sp>
      <p:sp>
        <p:nvSpPr>
          <p:cNvPr id="216" name="Fig 7. Shuttle vectors containing the cp32 pac region are preferentially packaged into ϕBB-1 virions."/>
          <p:cNvSpPr txBox="1"/>
          <p:nvPr/>
        </p:nvSpPr>
        <p:spPr>
          <a:xfrm>
            <a:off x="-25400" y="96661"/>
            <a:ext cx="24434801" cy="1569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defTabSz="825500">
              <a:lnSpc>
                <a:spcPct val="100000"/>
              </a:lnSpc>
              <a:spcBef>
                <a:spcPts val="0"/>
              </a:spcBef>
              <a:defRPr spc="-44">
                <a:latin typeface="Graphik Semibold"/>
                <a:ea typeface="Graphik Semibold"/>
                <a:cs typeface="Graphik Semibold"/>
                <a:sym typeface="Graphik Semibold"/>
              </a:defRPr>
            </a:pPr>
            <a:r>
              <a:t>Fig 7. Shuttle vectors containing the cp32 </a:t>
            </a:r>
            <a:r>
              <a:rPr b="1" i="1">
                <a:latin typeface="Graphik"/>
                <a:ea typeface="Graphik"/>
                <a:cs typeface="Graphik"/>
                <a:sym typeface="Graphik"/>
              </a:rPr>
              <a:t>pac</a:t>
            </a:r>
            <a:r>
              <a:t> region are preferentially packaged into ϕBB-1 virions.</a:t>
            </a:r>
          </a:p>
        </p:txBody>
      </p:sp>
      <p:sp>
        <p:nvSpPr>
          <p:cNvPr id="217" name="PhageTerm proposed a headful packaging mechanism…"/>
          <p:cNvSpPr txBox="1"/>
          <p:nvPr/>
        </p:nvSpPr>
        <p:spPr>
          <a:xfrm>
            <a:off x="199876" y="2668542"/>
            <a:ext cx="7694936" cy="856107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546100" indent="-546100">
              <a:buSzPct val="150000"/>
              <a:buChar char="•"/>
              <a:defRPr sz="3600">
                <a:latin typeface="Helvetica"/>
                <a:ea typeface="Helvetica"/>
                <a:cs typeface="Helvetica"/>
                <a:sym typeface="Helvetica"/>
              </a:defRPr>
            </a:pPr>
            <a:r>
              <a:t>PhageTerm proposed</a:t>
            </a:r>
            <a:br/>
            <a:r>
              <a:t>a headful packaging mechanism</a:t>
            </a:r>
          </a:p>
          <a:p>
            <a:pPr marL="546100" indent="-546100">
              <a:buSzPct val="150000"/>
              <a:buChar char="•"/>
              <a:defRPr sz="3600">
                <a:latin typeface="Helvetica"/>
                <a:ea typeface="Helvetica"/>
                <a:cs typeface="Helvetica"/>
                <a:sym typeface="Helvetica"/>
              </a:defRPr>
            </a:pPr>
            <a:r>
              <a:t>Phage generates head to tail copies of their genome</a:t>
            </a:r>
          </a:p>
          <a:p>
            <a:pPr marL="546100" indent="-546100">
              <a:buSzPct val="150000"/>
              <a:buChar char="•"/>
              <a:defRPr sz="3600">
                <a:latin typeface="Helvetica"/>
                <a:ea typeface="Helvetica"/>
                <a:cs typeface="Helvetica"/>
                <a:sym typeface="Helvetica"/>
              </a:defRPr>
            </a:pPr>
            <a:r>
              <a:t>Cut is made at a </a:t>
            </a:r>
            <a:r>
              <a:rPr i="1"/>
              <a:t>pac</a:t>
            </a:r>
            <a:r>
              <a:t> site and headful of linear phage DNA is packaged</a:t>
            </a:r>
          </a:p>
          <a:p>
            <a:pPr marL="546100" indent="-546100">
              <a:buSzPct val="150000"/>
              <a:buChar char="•"/>
              <a:defRPr sz="3600">
                <a:latin typeface="Helvetica"/>
                <a:ea typeface="Helvetica"/>
                <a:cs typeface="Helvetica"/>
                <a:sym typeface="Helvetica"/>
              </a:defRPr>
            </a:pPr>
            <a:r>
              <a:t>Variable cuts follow leading to size variation of packed DNA</a:t>
            </a:r>
          </a:p>
          <a:p>
            <a:pPr marL="546100" indent="-546100">
              <a:buSzPct val="150000"/>
              <a:buChar char="•"/>
              <a:defRPr i="1" sz="3600">
                <a:latin typeface="Helvetica"/>
                <a:ea typeface="Helvetica"/>
                <a:cs typeface="Helvetica"/>
                <a:sym typeface="Helvetica"/>
              </a:defRPr>
            </a:pPr>
            <a:r>
              <a:t>pac </a:t>
            </a:r>
            <a:r>
              <a:rPr i="0"/>
              <a:t>region cloned into pBSV2 vector, transformed into </a:t>
            </a:r>
            <a:r>
              <a:t>B. burgdorferi</a:t>
            </a:r>
            <a:endParaRPr i="0"/>
          </a:p>
          <a:p>
            <a:pPr marL="546100" indent="-546100">
              <a:buSzPct val="150000"/>
              <a:buChar char="•"/>
              <a:defRPr i="1" sz="3600">
                <a:latin typeface="Helvetica"/>
                <a:ea typeface="Helvetica"/>
                <a:cs typeface="Helvetica"/>
                <a:sym typeface="Helvetica"/>
              </a:defRPr>
            </a:pPr>
            <a:r>
              <a:rPr i="0"/>
              <a:t>Followed by induction, extraction, and purification protocol</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19" name="pasted-movie.png" descr="pasted-movie.png"/>
          <p:cNvPicPr>
            <a:picLocks noChangeAspect="1"/>
          </p:cNvPicPr>
          <p:nvPr/>
        </p:nvPicPr>
        <p:blipFill>
          <a:blip r:embed="rId2">
            <a:extLst/>
          </a:blip>
          <a:stretch>
            <a:fillRect/>
          </a:stretch>
        </p:blipFill>
        <p:spPr>
          <a:xfrm>
            <a:off x="0" y="1882502"/>
            <a:ext cx="24384000" cy="9950996"/>
          </a:xfrm>
          <a:prstGeom prst="rect">
            <a:avLst/>
          </a:prstGeom>
          <a:ln w="12700">
            <a:miter lim="400000"/>
          </a:ln>
        </p:spPr>
      </p:pic>
      <p:sp>
        <p:nvSpPr>
          <p:cNvPr id="220" name="(A) Outline of bioinformatic strategy to identify motifs enriched in the pac-containing DNA sequence of cp32 isoforms. All B. burgdorferi cp32 isoforms have the same motifs in the pac region. The cp32 cut site is indicated by the yellow triangle. (B) Seq"/>
          <p:cNvSpPr txBox="1"/>
          <p:nvPr/>
        </p:nvSpPr>
        <p:spPr>
          <a:xfrm>
            <a:off x="552561" y="12370534"/>
            <a:ext cx="24385049" cy="13208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defTabSz="457200">
              <a:lnSpc>
                <a:spcPct val="100000"/>
              </a:lnSpc>
              <a:spcBef>
                <a:spcPts val="0"/>
              </a:spcBef>
              <a:defRPr sz="1300">
                <a:solidFill>
                  <a:srgbClr val="202020"/>
                </a:solidFill>
                <a:latin typeface="Helvetica"/>
                <a:ea typeface="Helvetica"/>
                <a:cs typeface="Helvetica"/>
                <a:sym typeface="Helvetica"/>
              </a:defRPr>
            </a:pPr>
            <a:r>
              <a:rPr b="1"/>
              <a:t>(A)</a:t>
            </a:r>
            <a:r>
              <a:t> Outline of bioinformatic strategy to identify motifs enriched in the </a:t>
            </a:r>
            <a:r>
              <a:rPr i="1"/>
              <a:t>pac</a:t>
            </a:r>
            <a:r>
              <a:t>-containing DNA sequence of cp32 isoforms. All </a:t>
            </a:r>
            <a:r>
              <a:rPr i="1"/>
              <a:t>B</a:t>
            </a:r>
            <a:r>
              <a:t>. </a:t>
            </a:r>
            <a:r>
              <a:rPr i="1"/>
              <a:t>burgdorferi</a:t>
            </a:r>
            <a:r>
              <a:t> cp32 isoforms have the same motifs in the </a:t>
            </a:r>
            <a:r>
              <a:rPr i="1"/>
              <a:t>pac</a:t>
            </a:r>
            <a:r>
              <a:t> region. The cp32 cut site is indicated by the yellow triangle. </a:t>
            </a:r>
            <a:r>
              <a:rPr b="1"/>
              <a:t>(B)</a:t>
            </a:r>
            <a:r>
              <a:t> Sequence logos of the motifs identified in panel A and schematized in panel C. Nine of the top ten motifs occur at least once in the </a:t>
            </a:r>
            <a:r>
              <a:rPr i="1"/>
              <a:t>pac</a:t>
            </a:r>
            <a:r>
              <a:t>-containing region of cp32 DNA sequences. Motifs represented with right or left facing triangles often occur as direct and/or indirect repeats. </a:t>
            </a:r>
            <a:r>
              <a:rPr b="1"/>
              <a:t>(C)</a:t>
            </a:r>
            <a:r>
              <a:t> Phylogenetic tree of non-redundant DNA sequences with homology to </a:t>
            </a:r>
            <a:r>
              <a:rPr i="1"/>
              <a:t>B</a:t>
            </a:r>
            <a:r>
              <a:t>. </a:t>
            </a:r>
            <a:r>
              <a:rPr i="1"/>
              <a:t>burgdorferi</a:t>
            </a:r>
            <a:r>
              <a:t> cp32 </a:t>
            </a:r>
            <a:r>
              <a:rPr i="1"/>
              <a:t>pac</a:t>
            </a:r>
            <a:r>
              <a:t>-region identified in panel A. For each clade, the bacterial species and type of plasmid are listed. For clarity in the figure, bacterial species names have been truncated to a three letter abbreviation consisting of the first letter of the genus and the first two letters of the species (</a:t>
            </a:r>
            <a:r>
              <a:rPr i="1"/>
              <a:t>Borrelia afzelii</a:t>
            </a:r>
            <a:r>
              <a:t>, </a:t>
            </a:r>
            <a:r>
              <a:rPr i="1"/>
              <a:t>Baf; Borrelia andersonii</a:t>
            </a:r>
            <a:r>
              <a:t>, </a:t>
            </a:r>
            <a:r>
              <a:rPr i="1"/>
              <a:t>Ban; Borrelia bavariensis</a:t>
            </a:r>
            <a:r>
              <a:t>, </a:t>
            </a:r>
            <a:r>
              <a:rPr i="1"/>
              <a:t>Bba; Borrelia bissettiae</a:t>
            </a:r>
            <a:r>
              <a:t>, </a:t>
            </a:r>
            <a:r>
              <a:rPr i="1"/>
              <a:t>Bbi; Borrelia burgdorferi</a:t>
            </a:r>
            <a:r>
              <a:t>, </a:t>
            </a:r>
            <a:r>
              <a:rPr i="1"/>
              <a:t>Bbu; Borrelia coriaceae</a:t>
            </a:r>
            <a:r>
              <a:t>, </a:t>
            </a:r>
            <a:r>
              <a:rPr i="1"/>
              <a:t>Bco; Borrelia crocidurae</a:t>
            </a:r>
            <a:r>
              <a:t>, </a:t>
            </a:r>
            <a:r>
              <a:rPr i="1"/>
              <a:t>Bcr; Borrelia duttoni</a:t>
            </a:r>
            <a:r>
              <a:t>, </a:t>
            </a:r>
            <a:r>
              <a:rPr i="1"/>
              <a:t>Bdu; Borrelia fainii</a:t>
            </a:r>
            <a:r>
              <a:t>, </a:t>
            </a:r>
            <a:r>
              <a:rPr i="1"/>
              <a:t>Bfa; Borrelia finlandensis</a:t>
            </a:r>
            <a:r>
              <a:t>, </a:t>
            </a:r>
            <a:r>
              <a:rPr i="1"/>
              <a:t>Bfi; Borrelia garinii</a:t>
            </a:r>
            <a:r>
              <a:t>, </a:t>
            </a:r>
            <a:r>
              <a:rPr i="1"/>
              <a:t>Bga; Borrelia hermsii</a:t>
            </a:r>
            <a:r>
              <a:t>, </a:t>
            </a:r>
            <a:r>
              <a:rPr i="1"/>
              <a:t>Bhe; Borrelia japonica</a:t>
            </a:r>
            <a:r>
              <a:t>, </a:t>
            </a:r>
            <a:r>
              <a:rPr i="1"/>
              <a:t>Bja; Borrelia mayonii</a:t>
            </a:r>
            <a:r>
              <a:t>, </a:t>
            </a:r>
            <a:r>
              <a:rPr i="1"/>
              <a:t>Bma; Borrelia miyamotoi</a:t>
            </a:r>
            <a:r>
              <a:t>, </a:t>
            </a:r>
            <a:r>
              <a:rPr i="1"/>
              <a:t>Bmi; Borrelia parkeri</a:t>
            </a:r>
            <a:r>
              <a:t>, </a:t>
            </a:r>
            <a:r>
              <a:rPr i="1"/>
              <a:t>Bpa; Borrelia puertoricensis</a:t>
            </a:r>
            <a:r>
              <a:t>, </a:t>
            </a:r>
            <a:r>
              <a:rPr i="1"/>
              <a:t>Bpu; Borrelia recurrentis</a:t>
            </a:r>
            <a:r>
              <a:t>, </a:t>
            </a:r>
            <a:r>
              <a:rPr i="1"/>
              <a:t>Bre; Borrelia turicatae</a:t>
            </a:r>
            <a:r>
              <a:t>, </a:t>
            </a:r>
            <a:r>
              <a:rPr i="1"/>
              <a:t>Btu; Borrelia valaisiana</a:t>
            </a:r>
            <a:r>
              <a:t>, </a:t>
            </a:r>
            <a:r>
              <a:rPr i="1"/>
              <a:t>Bva; Borrelia venezuelensis</a:t>
            </a:r>
            <a:r>
              <a:t>, </a:t>
            </a:r>
            <a:r>
              <a:rPr i="1"/>
              <a:t>Bve</a:t>
            </a:r>
            <a:r>
              <a:t>). There is variability in the motif architecture between sequences within a single clade; however, for clarity, a representative motif architecture discovered by MEME is shown [</a:t>
            </a:r>
            <a:r>
              <a:rPr>
                <a:solidFill>
                  <a:srgbClr val="303030"/>
                </a:solidFill>
                <a:hlinkClick r:id="rId3" invalidUrl="" action="" tgtFrame="" tooltip="" history="1" highlightClick="0" endSnd="0"/>
              </a:rPr>
              <a:t>53</a:t>
            </a:r>
            <a:r>
              <a:t>]. The top two clades of sequences (outlined in black) are dominated by cp32 isoforms and the cp32 motif architecture, therefore a single motif scheme is shown for these two clades. The region of DNA and motifs cloned into the pBSV2 shuttle vector is outlined in dashes. </a:t>
            </a:r>
          </a:p>
        </p:txBody>
      </p:sp>
      <p:sp>
        <p:nvSpPr>
          <p:cNvPr id="221" name="Fig 8. Cp32 prophages have conserved motifs that occur in a specific arrangement around the pac site."/>
          <p:cNvSpPr txBox="1"/>
          <p:nvPr/>
        </p:nvSpPr>
        <p:spPr>
          <a:xfrm>
            <a:off x="108914" y="166154"/>
            <a:ext cx="24166171" cy="1569213"/>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defTabSz="825500">
              <a:lnSpc>
                <a:spcPct val="100000"/>
              </a:lnSpc>
              <a:spcBef>
                <a:spcPts val="0"/>
              </a:spcBef>
              <a:defRPr spc="-44">
                <a:latin typeface="Graphik Semibold"/>
                <a:ea typeface="Graphik Semibold"/>
                <a:cs typeface="Graphik Semibold"/>
                <a:sym typeface="Graphik Semibold"/>
              </a:defRPr>
            </a:pPr>
            <a:r>
              <a:t>Fig 8. Cp32 prophages have conserved motifs that occur in a specific arrangement around the </a:t>
            </a:r>
            <a:r>
              <a:rPr b="1" i="1">
                <a:latin typeface="Graphik"/>
                <a:ea typeface="Graphik"/>
                <a:cs typeface="Graphik"/>
                <a:sym typeface="Graphik"/>
              </a:rPr>
              <a:t>pac</a:t>
            </a:r>
            <a:r>
              <a:t> site.</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3" name="pasted-movie.png" descr="pasted-movie.png"/>
          <p:cNvPicPr>
            <a:picLocks noChangeAspect="1"/>
          </p:cNvPicPr>
          <p:nvPr/>
        </p:nvPicPr>
        <p:blipFill>
          <a:blip r:embed="rId2">
            <a:extLst/>
          </a:blip>
          <a:stretch>
            <a:fillRect/>
          </a:stretch>
        </p:blipFill>
        <p:spPr>
          <a:xfrm>
            <a:off x="4722601" y="1929124"/>
            <a:ext cx="19661399" cy="8856993"/>
          </a:xfrm>
          <a:prstGeom prst="rect">
            <a:avLst/>
          </a:prstGeom>
          <a:ln w="12700">
            <a:miter lim="400000"/>
          </a:ln>
        </p:spPr>
      </p:pic>
      <p:sp>
        <p:nvSpPr>
          <p:cNvPr id="224" name="(A) De novo assembly of packaged reads produced a 67,405-bp contig with tail-to-tail and head-to-head junctions. (B and C) Sequences at the packaged 5′ junction (light orange) or the 3′ junction (cyan) are compared to the lp54 reference sequence NC_01219"/>
          <p:cNvSpPr txBox="1"/>
          <p:nvPr/>
        </p:nvSpPr>
        <p:spPr>
          <a:xfrm>
            <a:off x="5571891" y="11400145"/>
            <a:ext cx="18391778" cy="711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457200">
              <a:lnSpc>
                <a:spcPct val="100000"/>
              </a:lnSpc>
              <a:spcBef>
                <a:spcPts val="0"/>
              </a:spcBef>
              <a:defRPr sz="1300">
                <a:solidFill>
                  <a:srgbClr val="202020"/>
                </a:solidFill>
                <a:latin typeface="Helvetica"/>
                <a:ea typeface="Helvetica"/>
                <a:cs typeface="Helvetica"/>
                <a:sym typeface="Helvetica"/>
              </a:defRPr>
            </a:pPr>
            <a:r>
              <a:rPr b="1"/>
              <a:t>(A)</a:t>
            </a:r>
            <a:r>
              <a:t> </a:t>
            </a:r>
            <a:r>
              <a:rPr i="1"/>
              <a:t>De novo</a:t>
            </a:r>
            <a:r>
              <a:t> assembly of packaged reads produced a 67,405-bp contig with tail-to-tail and head-to-head junctions. </a:t>
            </a:r>
            <a:r>
              <a:rPr b="1"/>
              <a:t>(B and C)</a:t>
            </a:r>
            <a:r>
              <a:t> Sequences at the packaged 5′ junction (light orange) or the 3′ junction (cyan) are compared to the lp54 reference sequence NC_012194.1. </a:t>
            </a:r>
            <a:r>
              <a:rPr b="1"/>
              <a:t>(D)</a:t>
            </a:r>
            <a:r>
              <a:t> Alignments of the tail-to-tail and head-to-head junctions reveals a variable 18-bp sequence in between the conserved inverted repeats. </a:t>
            </a:r>
            <a:r>
              <a:rPr b="1"/>
              <a:t>(E and F)</a:t>
            </a:r>
            <a:r>
              <a:t> Predicted hairpin structures are shown for each end of lp54. The loop sequence for each hairpin is underlined in panel D. </a:t>
            </a:r>
          </a:p>
        </p:txBody>
      </p:sp>
      <p:sp>
        <p:nvSpPr>
          <p:cNvPr id="225" name="Fig 9. Full-length lp54 with fully resolved telomeres are recovered from ϕBB-1-packaged DNA"/>
          <p:cNvSpPr txBox="1"/>
          <p:nvPr/>
        </p:nvSpPr>
        <p:spPr>
          <a:xfrm>
            <a:off x="1063058" y="180369"/>
            <a:ext cx="23166933" cy="15692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ctr" defTabSz="825500">
              <a:lnSpc>
                <a:spcPct val="100000"/>
              </a:lnSpc>
              <a:spcBef>
                <a:spcPts val="0"/>
              </a:spcBef>
              <a:defRPr spc="-44">
                <a:latin typeface="Graphik Semibold"/>
                <a:ea typeface="Graphik Semibold"/>
                <a:cs typeface="Graphik Semibold"/>
                <a:sym typeface="Graphik Semibold"/>
              </a:defRPr>
            </a:lvl1pPr>
          </a:lstStyle>
          <a:p>
            <a:pPr/>
            <a:r>
              <a:t>Fig 9. Full-length lp54 with fully resolved telomeres are recovered from ϕBB-1-packaged DNA</a:t>
            </a:r>
          </a:p>
        </p:txBody>
      </p:sp>
      <p:sp>
        <p:nvSpPr>
          <p:cNvPr id="226" name="lp54 has a tail-to-tail and head-to-head junctions…"/>
          <p:cNvSpPr txBox="1"/>
          <p:nvPr/>
        </p:nvSpPr>
        <p:spPr>
          <a:xfrm>
            <a:off x="35932" y="1889299"/>
            <a:ext cx="4728152" cy="712724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marL="546100" indent="-546100">
              <a:buSzPct val="150000"/>
              <a:buChar char="•"/>
              <a:defRPr sz="3000">
                <a:latin typeface="Helvetica"/>
                <a:ea typeface="Helvetica"/>
                <a:cs typeface="Helvetica"/>
                <a:sym typeface="Helvetica"/>
              </a:defRPr>
            </a:pPr>
            <a:r>
              <a:t>lp54 has a tail-to-tail and head-to-head junctions</a:t>
            </a:r>
          </a:p>
          <a:p>
            <a:pPr marL="546100" indent="-546100">
              <a:buSzPct val="150000"/>
              <a:buChar char="•"/>
              <a:defRPr sz="3000">
                <a:latin typeface="Helvetica"/>
                <a:ea typeface="Helvetica"/>
                <a:cs typeface="Helvetica"/>
                <a:sym typeface="Helvetica"/>
              </a:defRPr>
            </a:pPr>
            <a:r>
              <a:t>Read depth dropped at junctions hinting at telomeres</a:t>
            </a:r>
          </a:p>
          <a:p>
            <a:pPr marL="546100" indent="-546100">
              <a:buSzPct val="150000"/>
              <a:buChar char="•"/>
              <a:defRPr i="1" sz="3000">
                <a:latin typeface="Helvetica"/>
                <a:ea typeface="Helvetica"/>
                <a:cs typeface="Helvetica"/>
                <a:sym typeface="Helvetica"/>
              </a:defRPr>
            </a:pPr>
            <a:r>
              <a:t>B. burgdorferi </a:t>
            </a:r>
            <a:r>
              <a:rPr i="0"/>
              <a:t>telomeres have inverted repeat sequences</a:t>
            </a:r>
            <a:endParaRPr i="0"/>
          </a:p>
          <a:p>
            <a:pPr marL="546100" indent="-546100">
              <a:buSzPct val="150000"/>
              <a:buChar char="•"/>
              <a:defRPr i="1" sz="3000">
                <a:latin typeface="Helvetica"/>
                <a:ea typeface="Helvetica"/>
                <a:cs typeface="Helvetica"/>
                <a:sym typeface="Helvetica"/>
              </a:defRPr>
            </a:pPr>
            <a:r>
              <a:rPr i="0"/>
              <a:t>Hairpin ends identified</a:t>
            </a:r>
            <a:endParaRPr i="0"/>
          </a:p>
          <a:p>
            <a:pPr marL="546100" indent="-546100">
              <a:buSzPct val="150000"/>
              <a:buChar char="•"/>
              <a:defRPr i="1" sz="3000">
                <a:latin typeface="Helvetica"/>
                <a:ea typeface="Helvetica"/>
                <a:cs typeface="Helvetica"/>
                <a:sym typeface="Helvetica"/>
              </a:defRPr>
            </a:pPr>
            <a:r>
              <a:rPr i="0"/>
              <a:t>Whether it’s linear lp54 or replication intermediates are unknown</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28" name="pasted-movie.png" descr="pasted-movie.png"/>
          <p:cNvPicPr>
            <a:picLocks noChangeAspect="1"/>
          </p:cNvPicPr>
          <p:nvPr/>
        </p:nvPicPr>
        <p:blipFill>
          <a:blip r:embed="rId2">
            <a:extLst/>
          </a:blip>
          <a:stretch>
            <a:fillRect/>
          </a:stretch>
        </p:blipFill>
        <p:spPr>
          <a:xfrm>
            <a:off x="0" y="2143760"/>
            <a:ext cx="24384000" cy="9428481"/>
          </a:xfrm>
          <a:prstGeom prst="rect">
            <a:avLst/>
          </a:prstGeom>
          <a:ln w="12700">
            <a:miter lim="400000"/>
          </a:ln>
        </p:spPr>
      </p:pic>
      <p:sp>
        <p:nvSpPr>
          <p:cNvPr id="229" name="Fig 10. Packaged reads resolve the telomeric ends of the linear chromosome and most linear plasmids in the CA-11.2A genome.…"/>
          <p:cNvSpPr txBox="1"/>
          <p:nvPr/>
        </p:nvSpPr>
        <p:spPr>
          <a:xfrm>
            <a:off x="311435" y="11879986"/>
            <a:ext cx="23062936" cy="197764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defTabSz="825500">
              <a:lnSpc>
                <a:spcPct val="100000"/>
              </a:lnSpc>
              <a:spcBef>
                <a:spcPts val="0"/>
              </a:spcBef>
              <a:defRPr spc="-28" sz="2800">
                <a:latin typeface="Graphik Semibold"/>
                <a:ea typeface="Graphik Semibold"/>
                <a:cs typeface="Graphik Semibold"/>
                <a:sym typeface="Graphik Semibold"/>
              </a:defRPr>
            </a:pPr>
            <a:r>
              <a:t>Fig 10. Packaged reads resolve the telomeric ends of the linear chromosome and most linear plasmids in the CA-11.2A genome.</a:t>
            </a:r>
            <a:endParaRPr>
              <a:latin typeface="Graphik"/>
              <a:ea typeface="Graphik"/>
              <a:cs typeface="Graphik"/>
              <a:sym typeface="Graphik"/>
            </a:endParaRPr>
          </a:p>
          <a:p>
            <a:pPr defTabSz="825500">
              <a:lnSpc>
                <a:spcPct val="100000"/>
              </a:lnSpc>
              <a:spcBef>
                <a:spcPts val="0"/>
              </a:spcBef>
              <a:defRPr spc="-28" sz="2800">
                <a:latin typeface="Graphik Semibold"/>
                <a:ea typeface="Graphik Semibold"/>
                <a:cs typeface="Graphik Semibold"/>
                <a:sym typeface="Graphik Semibold"/>
              </a:defRPr>
            </a:pPr>
            <a:r>
              <a:t>Reads spanning tail-to-tail or head-to-head junctions of the linear chromosome or the indicated linear plasmids form perfect hairpin structures. Conserved regulatory elements for each telomere are highlighted. </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Discussion"/>
          <p:cNvSpPr txBox="1"/>
          <p:nvPr>
            <p:ph type="title"/>
          </p:nvPr>
        </p:nvSpPr>
        <p:spPr>
          <a:prstGeom prst="rect">
            <a:avLst/>
          </a:prstGeom>
        </p:spPr>
        <p:txBody>
          <a:bodyPr/>
          <a:lstStyle>
            <a:lvl1pPr>
              <a:defRPr b="1">
                <a:latin typeface="Times New Roman"/>
                <a:ea typeface="Times New Roman"/>
                <a:cs typeface="Times New Roman"/>
                <a:sym typeface="Times New Roman"/>
              </a:defRPr>
            </a:lvl1pPr>
          </a:lstStyle>
          <a:p>
            <a:pPr/>
            <a:r>
              <a:t>Discussion</a:t>
            </a:r>
          </a:p>
        </p:txBody>
      </p:sp>
      <p:sp>
        <p:nvSpPr>
          <p:cNvPr id="232" name="ϕBB-1 virions package B. burgdorferi chromosome material along with plasmids besides cp32 such as lp54 and cp26.…"/>
          <p:cNvSpPr txBox="1"/>
          <p:nvPr>
            <p:ph type="body" idx="1"/>
          </p:nvPr>
        </p:nvSpPr>
        <p:spPr>
          <a:prstGeom prst="rect">
            <a:avLst/>
          </a:prstGeom>
        </p:spPr>
        <p:txBody>
          <a:bodyPr/>
          <a:lstStyle/>
          <a:p>
            <a:pPr>
              <a:defRPr>
                <a:latin typeface="Times New Roman"/>
                <a:ea typeface="Times New Roman"/>
                <a:cs typeface="Times New Roman"/>
                <a:sym typeface="Times New Roman"/>
              </a:defRPr>
            </a:pPr>
            <a:r>
              <a:t>ϕBB-1 virions package </a:t>
            </a:r>
            <a:r>
              <a:rPr i="1"/>
              <a:t>B. burgdorferi</a:t>
            </a:r>
            <a:r>
              <a:t> chromosome material along with plasmids besides cp32 such as lp54 and cp26.</a:t>
            </a:r>
          </a:p>
          <a:p>
            <a:pPr>
              <a:defRPr>
                <a:latin typeface="Times New Roman"/>
                <a:ea typeface="Times New Roman"/>
                <a:cs typeface="Times New Roman"/>
                <a:sym typeface="Times New Roman"/>
              </a:defRPr>
            </a:pPr>
            <a:r>
              <a:t>Packaged cp32 end upstream of the </a:t>
            </a:r>
            <a:r>
              <a:rPr i="1"/>
              <a:t>erp </a:t>
            </a:r>
            <a:r>
              <a:t>loci.</a:t>
            </a:r>
          </a:p>
          <a:p>
            <a:pPr>
              <a:defRPr>
                <a:latin typeface="Times New Roman"/>
                <a:ea typeface="Times New Roman"/>
                <a:cs typeface="Times New Roman"/>
                <a:sym typeface="Times New Roman"/>
              </a:defRPr>
            </a:pPr>
            <a:r>
              <a:t>Bacterial and phage DNA are packaged via a headful mechanism at a </a:t>
            </a:r>
            <a:r>
              <a:rPr i="1"/>
              <a:t>pac</a:t>
            </a:r>
            <a:r>
              <a:t> site.</a:t>
            </a:r>
          </a:p>
          <a:p>
            <a:pPr>
              <a:defRPr>
                <a:latin typeface="Times New Roman"/>
                <a:ea typeface="Times New Roman"/>
                <a:cs typeface="Times New Roman"/>
                <a:sym typeface="Times New Roman"/>
              </a:defRPr>
            </a:pPr>
            <a:r>
              <a:t>cp32 isoforms share similar motifs around the pac site</a:t>
            </a:r>
          </a:p>
          <a:p>
            <a:pPr>
              <a:defRPr>
                <a:latin typeface="Times New Roman"/>
                <a:ea typeface="Times New Roman"/>
                <a:cs typeface="Times New Roman"/>
                <a:sym typeface="Times New Roman"/>
              </a:defRPr>
            </a:pPr>
            <a:r>
              <a:t>Linear plasmids like lp54 are packaged with a covalently closed hairpin telomere site at both the head and tail end.</a:t>
            </a:r>
          </a:p>
        </p:txBody>
      </p:sp>
      <p:sp>
        <p:nvSpPr>
          <p:cNvPr id="233" name="What New Information was Establishe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a:defRPr b="1">
                <a:latin typeface="Times New Roman"/>
                <a:ea typeface="Times New Roman"/>
                <a:cs typeface="Times New Roman"/>
                <a:sym typeface="Times New Roman"/>
              </a:defRPr>
            </a:lvl1pPr>
          </a:lstStyle>
          <a:p>
            <a:pPr/>
            <a:r>
              <a:t>What New Information was Established?</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5" name="Conclusion"/>
          <p:cNvSpPr txBox="1"/>
          <p:nvPr>
            <p:ph type="title"/>
          </p:nvPr>
        </p:nvSpPr>
        <p:spPr>
          <a:prstGeom prst="rect">
            <a:avLst/>
          </a:prstGeom>
        </p:spPr>
        <p:txBody>
          <a:bodyPr/>
          <a:lstStyle>
            <a:lvl1pPr>
              <a:defRPr b="1">
                <a:latin typeface="Times New Roman"/>
                <a:ea typeface="Times New Roman"/>
                <a:cs typeface="Times New Roman"/>
                <a:sym typeface="Times New Roman"/>
              </a:defRPr>
            </a:lvl1pPr>
          </a:lstStyle>
          <a:p>
            <a:pPr/>
            <a:r>
              <a:t>Conclusion</a:t>
            </a:r>
          </a:p>
        </p:txBody>
      </p:sp>
      <p:sp>
        <p:nvSpPr>
          <p:cNvPr id="236" name="ϕBB-1 virions are highly implicated in facilitating the horizontal transfer of B. burgdorferi and other Lyme disease-causing spirochetes.…"/>
          <p:cNvSpPr txBox="1"/>
          <p:nvPr>
            <p:ph type="body" idx="1"/>
          </p:nvPr>
        </p:nvSpPr>
        <p:spPr>
          <a:xfrm>
            <a:off x="1217711" y="4009348"/>
            <a:ext cx="21948578" cy="8483601"/>
          </a:xfrm>
          <a:prstGeom prst="rect">
            <a:avLst/>
          </a:prstGeom>
        </p:spPr>
        <p:txBody>
          <a:bodyPr/>
          <a:lstStyle/>
          <a:p>
            <a:pPr>
              <a:defRPr>
                <a:latin typeface="Times New Roman"/>
                <a:ea typeface="Times New Roman"/>
                <a:cs typeface="Times New Roman"/>
                <a:sym typeface="Times New Roman"/>
              </a:defRPr>
            </a:pPr>
            <a:r>
              <a:t>ϕBB-1 virions are highly implicated in facilitating the horizontal transfer of </a:t>
            </a:r>
            <a:r>
              <a:rPr i="1"/>
              <a:t>B. burgdorferi </a:t>
            </a:r>
            <a:r>
              <a:t>and other Lyme disease-causing spirochetes.</a:t>
            </a:r>
          </a:p>
          <a:p>
            <a:pPr>
              <a:defRPr>
                <a:latin typeface="Times New Roman"/>
                <a:ea typeface="Times New Roman"/>
                <a:cs typeface="Times New Roman"/>
                <a:sym typeface="Times New Roman"/>
              </a:defRPr>
            </a:pPr>
            <a:r>
              <a:t>The establishment of an increased uptake of DNA that contain the cp32 </a:t>
            </a:r>
            <a:r>
              <a:rPr i="1"/>
              <a:t>pac</a:t>
            </a:r>
            <a:r>
              <a:t> site by ϕBB-1 bacteriophages can be potentially utilized as a means to integrate other recombinant DNA into </a:t>
            </a:r>
            <a:r>
              <a:rPr i="1"/>
              <a:t>B. burgdorferi</a:t>
            </a:r>
            <a:r>
              <a:t>.</a:t>
            </a:r>
          </a:p>
          <a:p>
            <a:pPr>
              <a:defRPr>
                <a:latin typeface="Times New Roman"/>
                <a:ea typeface="Times New Roman"/>
                <a:cs typeface="Times New Roman"/>
                <a:sym typeface="Times New Roman"/>
              </a:defRPr>
            </a:pPr>
            <a:r>
              <a:t>Further investigations could include:</a:t>
            </a:r>
          </a:p>
          <a:p>
            <a:pPr lvl="1">
              <a:defRPr>
                <a:latin typeface="Times New Roman"/>
                <a:ea typeface="Times New Roman"/>
                <a:cs typeface="Times New Roman"/>
                <a:sym typeface="Times New Roman"/>
              </a:defRPr>
            </a:pPr>
            <a:r>
              <a:t>What bacterial genes are most frequently transferred?</a:t>
            </a:r>
          </a:p>
          <a:p>
            <a:pPr lvl="1">
              <a:defRPr>
                <a:latin typeface="Times New Roman"/>
                <a:ea typeface="Times New Roman"/>
                <a:cs typeface="Times New Roman"/>
                <a:sym typeface="Times New Roman"/>
              </a:defRPr>
            </a:pPr>
            <a:r>
              <a:t>Is there a significance for 8kb being the average size read length for bacterial chromosomes and low frequency plasmids?</a:t>
            </a:r>
          </a:p>
          <a:p>
            <a:pPr lvl="1">
              <a:defRPr>
                <a:latin typeface="Times New Roman"/>
                <a:ea typeface="Times New Roman"/>
                <a:cs typeface="Times New Roman"/>
                <a:sym typeface="Times New Roman"/>
              </a:defRPr>
            </a:pPr>
            <a:r>
              <a:t>Can ϕBB-1 transfer between different </a:t>
            </a:r>
            <a:r>
              <a:rPr i="1"/>
              <a:t>Borrelia </a:t>
            </a:r>
            <a:r>
              <a:t>strains outside of </a:t>
            </a:r>
            <a:r>
              <a:rPr i="1"/>
              <a:t>B. burgdorferiI</a:t>
            </a:r>
            <a:r>
              <a:t>?</a:t>
            </a:r>
          </a:p>
          <a:p>
            <a:pPr lvl="1">
              <a:defRPr>
                <a:latin typeface="Times New Roman"/>
                <a:ea typeface="Times New Roman"/>
                <a:cs typeface="Times New Roman"/>
                <a:sym typeface="Times New Roman"/>
              </a:defRPr>
            </a:pPr>
            <a:r>
              <a:t>Can this be replicated in-vivo?</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Canela Bold"/>
        <a:ea typeface="Canela Bold"/>
        <a:cs typeface="Canela Bold"/>
      </a:majorFont>
      <a:minorFont>
        <a:latin typeface="Canela Bold"/>
        <a:ea typeface="Canela Bold"/>
        <a:cs typeface="Canela Bold"/>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11303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a:ea typeface="Graphik"/>
            <a:cs typeface="Graphik"/>
            <a:sym typeface="Graphik"/>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2400"/>
          </a:spcBef>
          <a:spcAft>
            <a:spcPts val="0"/>
          </a:spcAft>
          <a:buClrTx/>
          <a:buSzTx/>
          <a:buFontTx/>
          <a:buNone/>
          <a:tabLst/>
          <a:defRPr b="0" baseline="0" cap="none" i="0" spc="0" strike="noStrike" sz="4400" u="none" kumimoji="0" normalizeH="0">
            <a:ln>
              <a:noFill/>
            </a:ln>
            <a:solidFill>
              <a:srgbClr val="000000"/>
            </a:solidFill>
            <a:effectLst/>
            <a:uFillTx/>
            <a:latin typeface="Canela Text Regular"/>
            <a:ea typeface="Canela Text Regular"/>
            <a:cs typeface="Canela Text Regular"/>
            <a:sym typeface="Canela T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